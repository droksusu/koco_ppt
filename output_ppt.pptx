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5" r:id="rId2"/>
    <p:sldId id="308" r:id="rId3"/>
    <p:sldId id="309" r:id="rId4"/>
    <p:sldId id="306" r:id="rId5"/>
    <p:sldId id="310" r:id="rId6"/>
    <p:sldId id="289" r:id="rId7"/>
    <p:sldId id="294" r:id="rId8"/>
    <p:sldId id="283" r:id="rId9"/>
    <p:sldId id="284" r:id="rId10"/>
    <p:sldId id="285" r:id="rId11"/>
    <p:sldId id="28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" userDrawn="1">
          <p15:clr>
            <a:srgbClr val="A4A3A4"/>
          </p15:clr>
        </p15:guide>
        <p15:guide id="2" pos="158" userDrawn="1">
          <p15:clr>
            <a:srgbClr val="A4A3A4"/>
          </p15:clr>
        </p15:guide>
        <p15:guide id="3" pos="5602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F5D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596" y="96"/>
      </p:cViewPr>
      <p:guideLst>
        <p:guide orient="horz" pos="187"/>
        <p:guide pos="158"/>
        <p:guide pos="5602"/>
        <p:guide orient="horz" pos="41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2AA1AC8B-ED8A-85EC-32C0-55E445C34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A0E189BC-E6DB-6761-146E-0C6EAB23B2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71588" y="2085975"/>
            <a:ext cx="1304925" cy="1014413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23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63F0B-6643-DD26-4664-6589B2AD9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7582" y="199174"/>
            <a:ext cx="6222690" cy="58272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5B4A9173-22E0-FAB0-01CA-E9ABB5A17A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4609" y="401329"/>
            <a:ext cx="1138238" cy="1227137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2EBEB6B-1B38-B5E6-ED52-2D71B4A891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4888" y="1271588"/>
            <a:ext cx="6411912" cy="93662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1" name="표 개체 틀 10">
            <a:extLst>
              <a:ext uri="{FF2B5EF4-FFF2-40B4-BE49-F238E27FC236}">
                <a16:creationId xmlns:a16="http://schemas.microsoft.com/office/drawing/2014/main" id="{C7DEB137-2C1F-066A-0D30-44583BEAD33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44609" y="3378820"/>
            <a:ext cx="2743200" cy="302736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267C86D1-2B4B-148C-E256-9A294E3D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1375" y="3791416"/>
            <a:ext cx="3088810" cy="253159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6746C891-DA4C-C5DA-A802-6BE6AA8D04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94844" y="4248150"/>
            <a:ext cx="2286000" cy="1589088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5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44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47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183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98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61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83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69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62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549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459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243150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3" y="5929931"/>
            <a:ext cx="8239126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294084">
              <a:lnSpc>
                <a:spcPct val="100000"/>
              </a:lnSpc>
              <a:spcBef>
                <a:spcPts val="0"/>
              </a:spcBef>
              <a:buSzTx/>
              <a:buNone/>
              <a:defRPr sz="1283" b="1"/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452437" y="1287496"/>
            <a:ext cx="8239127" cy="2324100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프레젠테이션 제목</a:t>
            </a:r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5" y="3611596"/>
            <a:ext cx="8239125" cy="952500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097926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62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CEFC8A1C-54A6-4F10-95D9-B297794CDC39}"/>
              </a:ext>
            </a:extLst>
          </p:cNvPr>
          <p:cNvSpPr/>
          <p:nvPr/>
        </p:nvSpPr>
        <p:spPr>
          <a:xfrm>
            <a:off x="6464147" y="4252719"/>
            <a:ext cx="2425633" cy="2339080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1" hangingPunct="1"/>
            <a:endParaRPr lang="en-US" altLang="ko-KR" sz="1600" b="1" dirty="0">
              <a:solidFill>
                <a:srgbClr val="000000"/>
              </a:solidFill>
              <a:latin typeface="+mn-ea"/>
              <a:cs typeface="Times New Roman Bold" panose="02020803070505020304" pitchFamily="18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3C27226-0C31-4C62-9DE1-B10BB51D38EC}"/>
              </a:ext>
            </a:extLst>
          </p:cNvPr>
          <p:cNvSpPr/>
          <p:nvPr/>
        </p:nvSpPr>
        <p:spPr>
          <a:xfrm>
            <a:off x="3936296" y="4256664"/>
            <a:ext cx="2425633" cy="2339080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1" hangingPunct="1"/>
            <a:endParaRPr lang="en-US" altLang="ko-KR" sz="1600" b="1" dirty="0">
              <a:solidFill>
                <a:srgbClr val="000000"/>
              </a:solidFill>
              <a:latin typeface="+mn-ea"/>
              <a:cs typeface="Times New Roman Bold" panose="020208030705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78683B-E4AC-4AF6-ACED-2E8DFA34DC1D}"/>
              </a:ext>
            </a:extLst>
          </p:cNvPr>
          <p:cNvSpPr txBox="1"/>
          <p:nvPr/>
        </p:nvSpPr>
        <p:spPr>
          <a:xfrm>
            <a:off x="5618070" y="3043548"/>
            <a:ext cx="34507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0.8(APDI-IAPDI)mm</a:t>
            </a:r>
          </a:p>
        </p:txBody>
      </p:sp>
      <p:graphicFrame>
        <p:nvGraphicFramePr>
          <p:cNvPr id="2049" name="Group 1">
            <a:extLst>
              <a:ext uri="{FF2B5EF4-FFF2-40B4-BE49-F238E27FC236}">
                <a16:creationId xmlns:a16="http://schemas.microsoft.com/office/drawing/2014/main" id="{59125F02-53E8-D620-7C46-E0F8F1B1D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193508"/>
              </p:ext>
            </p:extLst>
          </p:nvPr>
        </p:nvGraphicFramePr>
        <p:xfrm>
          <a:off x="2428876" y="4244830"/>
          <a:ext cx="1371600" cy="2346974"/>
        </p:xfrm>
        <a:graphic>
          <a:graphicData uri="http://schemas.openxmlformats.org/drawingml/2006/table">
            <a:tbl>
              <a:tblPr/>
              <a:tblGrid>
                <a:gridCol w="60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414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H-C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A-ld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M-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ld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굴림" pitchFamily="4" charset="-127"/>
                        <a:cs typeface="Times New Roman Bold Italic" charset="0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P-ld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COS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CDL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MDL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STM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Ar-Exp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2D2DB9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Total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D2DB9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 D.D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134" name="TextBox 45">
            <a:extLst>
              <a:ext uri="{FF2B5EF4-FFF2-40B4-BE49-F238E27FC236}">
                <a16:creationId xmlns:a16="http://schemas.microsoft.com/office/drawing/2014/main" id="{CE3875F6-CC80-48D6-82CC-E3CD45B50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8322" y="469546"/>
            <a:ext cx="4947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1pPr>
            <a:lvl2pPr marL="742950" indent="-28575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2pPr>
            <a:lvl3pPr marL="1143000" indent="-22860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3pPr>
            <a:lvl4pPr marL="1600200" indent="-22860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4pPr>
            <a:lvl5pPr marL="2057400" indent="-22860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9pPr>
          </a:lstStyle>
          <a:p>
            <a:pPr algn="ctr">
              <a:defRPr sz="1500" b="1">
                <a:solidFill>
                  <a:srgbClr val="445474"/>
                </a:solidFill>
                <a:latin typeface="맑은 고딕"/>
              </a:defRPr>
            </a:pPr>
            <a:r>
              <a:t>(M)  옥수수 9y 6m 2013.01.04</a:t>
            </a:r>
          </a:p>
          <a:p>
            <a:pPr algn="ctr">
              <a:defRPr sz="1500" b="1">
                <a:solidFill>
                  <a:srgbClr val="445474"/>
                </a:solidFill>
                <a:latin typeface="맑은 고딕"/>
              </a:defRPr>
            </a:pPr>
            <a:r>
              <a:t> S1.B1.D1.C1-nbt(nbt)-RM(Rt)-Fx:Ex-Fx/1-Type IV</a:t>
            </a:r>
          </a:p>
        </p:txBody>
      </p:sp>
      <p:grpSp>
        <p:nvGrpSpPr>
          <p:cNvPr id="3135" name="그룹 74">
            <a:extLst>
              <a:ext uri="{FF2B5EF4-FFF2-40B4-BE49-F238E27FC236}">
                <a16:creationId xmlns:a16="http://schemas.microsoft.com/office/drawing/2014/main" id="{B451E699-BF01-1910-398A-FDBD462242C9}"/>
              </a:ext>
            </a:extLst>
          </p:cNvPr>
          <p:cNvGrpSpPr>
            <a:grpSpLocks/>
          </p:cNvGrpSpPr>
          <p:nvPr/>
        </p:nvGrpSpPr>
        <p:grpSpPr bwMode="auto">
          <a:xfrm>
            <a:off x="6521351" y="4855430"/>
            <a:ext cx="2311223" cy="1496310"/>
            <a:chOff x="5429250" y="3929063"/>
            <a:chExt cx="2643188" cy="1643062"/>
          </a:xfrm>
        </p:grpSpPr>
        <p:sp>
          <p:nvSpPr>
            <p:cNvPr id="3142" name="AutoShape 265">
              <a:extLst>
                <a:ext uri="{FF2B5EF4-FFF2-40B4-BE49-F238E27FC236}">
                  <a16:creationId xmlns:a16="http://schemas.microsoft.com/office/drawing/2014/main" id="{F0CA25CE-8884-8651-C904-478AB9B91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250" y="3929063"/>
              <a:ext cx="2643188" cy="1643062"/>
            </a:xfrm>
            <a:prstGeom prst="roundRect">
              <a:avLst>
                <a:gd name="adj" fmla="val 1736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3" name="Line 244">
              <a:extLst>
                <a:ext uri="{FF2B5EF4-FFF2-40B4-BE49-F238E27FC236}">
                  <a16:creationId xmlns:a16="http://schemas.microsoft.com/office/drawing/2014/main" id="{4FB935B8-51B1-11A5-4165-56E33C25AB0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5786438" y="4595813"/>
              <a:ext cx="1928812" cy="476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44" name="AutoShape 245">
              <a:extLst>
                <a:ext uri="{FF2B5EF4-FFF2-40B4-BE49-F238E27FC236}">
                  <a16:creationId xmlns:a16="http://schemas.microsoft.com/office/drawing/2014/main" id="{264B87C1-A59A-4F47-C856-D74CDE2BAAE1}"/>
                </a:ext>
              </a:extLst>
            </p:cNvPr>
            <p:cNvSpPr>
              <a:spLocks/>
            </p:cNvSpPr>
            <p:nvPr/>
          </p:nvSpPr>
          <p:spPr bwMode="auto">
            <a:xfrm rot="1020000">
              <a:off x="7337425" y="4171950"/>
              <a:ext cx="250825" cy="412750"/>
            </a:xfrm>
            <a:custGeom>
              <a:avLst/>
              <a:gdLst>
                <a:gd name="T0" fmla="*/ 0 w 21436"/>
                <a:gd name="T1" fmla="*/ 0 h 21259"/>
                <a:gd name="T2" fmla="*/ 21436 w 21436"/>
                <a:gd name="T3" fmla="*/ 21259 h 21259"/>
              </a:gdLst>
              <a:ahLst/>
              <a:cxnLst/>
              <a:rect l="T0" t="T1" r="T2" b="T3"/>
              <a:pathLst>
                <a:path w="21436" h="21259">
                  <a:moveTo>
                    <a:pt x="751" y="10"/>
                  </a:moveTo>
                  <a:cubicBezTo>
                    <a:pt x="-164" y="135"/>
                    <a:pt x="-164" y="1094"/>
                    <a:pt x="329" y="2512"/>
                  </a:cubicBezTo>
                  <a:cubicBezTo>
                    <a:pt x="821" y="3930"/>
                    <a:pt x="2650" y="6682"/>
                    <a:pt x="3706" y="8517"/>
                  </a:cubicBezTo>
                  <a:cubicBezTo>
                    <a:pt x="4761" y="10351"/>
                    <a:pt x="5816" y="12395"/>
                    <a:pt x="6661" y="13520"/>
                  </a:cubicBezTo>
                  <a:cubicBezTo>
                    <a:pt x="7505" y="14646"/>
                    <a:pt x="7927" y="14730"/>
                    <a:pt x="8771" y="15272"/>
                  </a:cubicBezTo>
                  <a:cubicBezTo>
                    <a:pt x="9616" y="15814"/>
                    <a:pt x="11727" y="16773"/>
                    <a:pt x="11727" y="16773"/>
                  </a:cubicBezTo>
                  <a:cubicBezTo>
                    <a:pt x="12782" y="17315"/>
                    <a:pt x="14048" y="17857"/>
                    <a:pt x="15104" y="18524"/>
                  </a:cubicBezTo>
                  <a:cubicBezTo>
                    <a:pt x="16159" y="19192"/>
                    <a:pt x="17285" y="20359"/>
                    <a:pt x="18059" y="20776"/>
                  </a:cubicBezTo>
                  <a:cubicBezTo>
                    <a:pt x="18833" y="21193"/>
                    <a:pt x="19184" y="21485"/>
                    <a:pt x="19747" y="21026"/>
                  </a:cubicBezTo>
                  <a:cubicBezTo>
                    <a:pt x="20310" y="20568"/>
                    <a:pt x="21436" y="19317"/>
                    <a:pt x="21436" y="18024"/>
                  </a:cubicBezTo>
                  <a:cubicBezTo>
                    <a:pt x="21436" y="16731"/>
                    <a:pt x="20592" y="14730"/>
                    <a:pt x="19747" y="13270"/>
                  </a:cubicBezTo>
                  <a:cubicBezTo>
                    <a:pt x="18903" y="11811"/>
                    <a:pt x="17918" y="10643"/>
                    <a:pt x="16370" y="9267"/>
                  </a:cubicBezTo>
                  <a:cubicBezTo>
                    <a:pt x="14822" y="7891"/>
                    <a:pt x="12219" y="6265"/>
                    <a:pt x="10460" y="5014"/>
                  </a:cubicBezTo>
                  <a:cubicBezTo>
                    <a:pt x="8701" y="3763"/>
                    <a:pt x="7364" y="2554"/>
                    <a:pt x="5816" y="1761"/>
                  </a:cubicBezTo>
                  <a:cubicBezTo>
                    <a:pt x="4269" y="969"/>
                    <a:pt x="1665" y="-115"/>
                    <a:pt x="751" y="10"/>
                  </a:cubicBezTo>
                  <a:close/>
                  <a:moveTo>
                    <a:pt x="751" y="10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5" name="AutoShape 246">
              <a:extLst>
                <a:ext uri="{FF2B5EF4-FFF2-40B4-BE49-F238E27FC236}">
                  <a16:creationId xmlns:a16="http://schemas.microsoft.com/office/drawing/2014/main" id="{CF97C7BA-DF32-7131-CD82-90E38F8A7EFB}"/>
                </a:ext>
              </a:extLst>
            </p:cNvPr>
            <p:cNvSpPr>
              <a:spLocks/>
            </p:cNvSpPr>
            <p:nvPr/>
          </p:nvSpPr>
          <p:spPr bwMode="auto">
            <a:xfrm rot="779999">
              <a:off x="7232650" y="5103813"/>
              <a:ext cx="150813" cy="420687"/>
            </a:xfrm>
            <a:custGeom>
              <a:avLst/>
              <a:gdLst>
                <a:gd name="T0" fmla="*/ 0 w 21197"/>
                <a:gd name="T1" fmla="*/ 0 h 21088"/>
                <a:gd name="T2" fmla="*/ 21197 w 21197"/>
                <a:gd name="T3" fmla="*/ 21088 h 21088"/>
              </a:gdLst>
              <a:ahLst/>
              <a:cxnLst/>
              <a:rect l="T0" t="T1" r="T2" b="T3"/>
              <a:pathLst>
                <a:path w="21197" h="21088">
                  <a:moveTo>
                    <a:pt x="19124" y="52"/>
                  </a:moveTo>
                  <a:cubicBezTo>
                    <a:pt x="18095" y="-294"/>
                    <a:pt x="16209" y="1175"/>
                    <a:pt x="15009" y="1866"/>
                  </a:cubicBezTo>
                  <a:cubicBezTo>
                    <a:pt x="13809" y="2557"/>
                    <a:pt x="13295" y="3421"/>
                    <a:pt x="11923" y="4199"/>
                  </a:cubicBezTo>
                  <a:cubicBezTo>
                    <a:pt x="10552" y="4976"/>
                    <a:pt x="8323" y="5236"/>
                    <a:pt x="6781" y="6532"/>
                  </a:cubicBezTo>
                  <a:cubicBezTo>
                    <a:pt x="5238" y="7828"/>
                    <a:pt x="3781" y="10074"/>
                    <a:pt x="2666" y="11975"/>
                  </a:cubicBezTo>
                  <a:cubicBezTo>
                    <a:pt x="1552" y="13876"/>
                    <a:pt x="438" y="16511"/>
                    <a:pt x="95" y="17936"/>
                  </a:cubicBezTo>
                  <a:cubicBezTo>
                    <a:pt x="-248" y="19362"/>
                    <a:pt x="438" y="20010"/>
                    <a:pt x="609" y="20528"/>
                  </a:cubicBezTo>
                  <a:cubicBezTo>
                    <a:pt x="781" y="21047"/>
                    <a:pt x="352" y="21047"/>
                    <a:pt x="1123" y="21047"/>
                  </a:cubicBezTo>
                  <a:cubicBezTo>
                    <a:pt x="1895" y="21047"/>
                    <a:pt x="3352" y="21306"/>
                    <a:pt x="5238" y="20528"/>
                  </a:cubicBezTo>
                  <a:cubicBezTo>
                    <a:pt x="7123" y="19751"/>
                    <a:pt x="10038" y="18196"/>
                    <a:pt x="12438" y="16381"/>
                  </a:cubicBezTo>
                  <a:cubicBezTo>
                    <a:pt x="14838" y="14567"/>
                    <a:pt x="18181" y="11716"/>
                    <a:pt x="19638" y="9642"/>
                  </a:cubicBezTo>
                  <a:cubicBezTo>
                    <a:pt x="21095" y="7568"/>
                    <a:pt x="21009" y="5452"/>
                    <a:pt x="21181" y="3940"/>
                  </a:cubicBezTo>
                  <a:cubicBezTo>
                    <a:pt x="21352" y="2428"/>
                    <a:pt x="20152" y="397"/>
                    <a:pt x="19124" y="52"/>
                  </a:cubicBezTo>
                  <a:close/>
                  <a:moveTo>
                    <a:pt x="19124" y="52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6" name="AutoShape 247">
              <a:extLst>
                <a:ext uri="{FF2B5EF4-FFF2-40B4-BE49-F238E27FC236}">
                  <a16:creationId xmlns:a16="http://schemas.microsoft.com/office/drawing/2014/main" id="{5D5F6EEF-AB16-EB70-23E8-9F8F4FFBBC53}"/>
                </a:ext>
              </a:extLst>
            </p:cNvPr>
            <p:cNvSpPr>
              <a:spLocks/>
            </p:cNvSpPr>
            <p:nvPr/>
          </p:nvSpPr>
          <p:spPr bwMode="auto">
            <a:xfrm rot="479999">
              <a:off x="5954713" y="5018088"/>
              <a:ext cx="280987" cy="387350"/>
            </a:xfrm>
            <a:custGeom>
              <a:avLst/>
              <a:gdLst>
                <a:gd name="T0" fmla="*/ 0 w 21391"/>
                <a:gd name="T1" fmla="*/ 0 h 21510"/>
                <a:gd name="T2" fmla="*/ 21391 w 21391"/>
                <a:gd name="T3" fmla="*/ 21510 h 21510"/>
              </a:gdLst>
              <a:ahLst/>
              <a:cxnLst/>
              <a:rect l="T0" t="T1" r="T2" b="T3"/>
              <a:pathLst>
                <a:path w="21391" h="21510">
                  <a:moveTo>
                    <a:pt x="2" y="19824"/>
                  </a:moveTo>
                  <a:cubicBezTo>
                    <a:pt x="-68" y="18708"/>
                    <a:pt x="1395" y="15807"/>
                    <a:pt x="1674" y="13933"/>
                  </a:cubicBezTo>
                  <a:cubicBezTo>
                    <a:pt x="1953" y="12058"/>
                    <a:pt x="1813" y="10095"/>
                    <a:pt x="1674" y="8577"/>
                  </a:cubicBezTo>
                  <a:cubicBezTo>
                    <a:pt x="1535" y="7060"/>
                    <a:pt x="908" y="5855"/>
                    <a:pt x="838" y="4828"/>
                  </a:cubicBezTo>
                  <a:cubicBezTo>
                    <a:pt x="768" y="3802"/>
                    <a:pt x="908" y="3043"/>
                    <a:pt x="1256" y="2419"/>
                  </a:cubicBezTo>
                  <a:cubicBezTo>
                    <a:pt x="1604" y="1794"/>
                    <a:pt x="2092" y="1303"/>
                    <a:pt x="2928" y="1080"/>
                  </a:cubicBezTo>
                  <a:cubicBezTo>
                    <a:pt x="3764" y="857"/>
                    <a:pt x="5227" y="1214"/>
                    <a:pt x="6273" y="1080"/>
                  </a:cubicBezTo>
                  <a:cubicBezTo>
                    <a:pt x="7318" y="946"/>
                    <a:pt x="8224" y="455"/>
                    <a:pt x="9199" y="276"/>
                  </a:cubicBezTo>
                  <a:cubicBezTo>
                    <a:pt x="10175" y="98"/>
                    <a:pt x="10871" y="-36"/>
                    <a:pt x="12126" y="9"/>
                  </a:cubicBezTo>
                  <a:cubicBezTo>
                    <a:pt x="13380" y="53"/>
                    <a:pt x="15331" y="276"/>
                    <a:pt x="16724" y="544"/>
                  </a:cubicBezTo>
                  <a:cubicBezTo>
                    <a:pt x="18118" y="812"/>
                    <a:pt x="19720" y="767"/>
                    <a:pt x="20487" y="1615"/>
                  </a:cubicBezTo>
                  <a:cubicBezTo>
                    <a:pt x="21253" y="2463"/>
                    <a:pt x="21532" y="3847"/>
                    <a:pt x="21323" y="5632"/>
                  </a:cubicBezTo>
                  <a:cubicBezTo>
                    <a:pt x="21114" y="7417"/>
                    <a:pt x="19860" y="10407"/>
                    <a:pt x="19233" y="12326"/>
                  </a:cubicBezTo>
                  <a:cubicBezTo>
                    <a:pt x="18606" y="14245"/>
                    <a:pt x="18466" y="15807"/>
                    <a:pt x="17560" y="17146"/>
                  </a:cubicBezTo>
                  <a:cubicBezTo>
                    <a:pt x="16655" y="18485"/>
                    <a:pt x="14982" y="19645"/>
                    <a:pt x="13798" y="20359"/>
                  </a:cubicBezTo>
                  <a:cubicBezTo>
                    <a:pt x="12613" y="21073"/>
                    <a:pt x="11220" y="21296"/>
                    <a:pt x="10453" y="21430"/>
                  </a:cubicBezTo>
                  <a:cubicBezTo>
                    <a:pt x="9687" y="21564"/>
                    <a:pt x="9338" y="21564"/>
                    <a:pt x="9199" y="21162"/>
                  </a:cubicBezTo>
                  <a:cubicBezTo>
                    <a:pt x="9060" y="20761"/>
                    <a:pt x="9199" y="19913"/>
                    <a:pt x="9617" y="19020"/>
                  </a:cubicBezTo>
                  <a:cubicBezTo>
                    <a:pt x="10035" y="18128"/>
                    <a:pt x="11568" y="16700"/>
                    <a:pt x="11707" y="15807"/>
                  </a:cubicBezTo>
                  <a:cubicBezTo>
                    <a:pt x="11847" y="14914"/>
                    <a:pt x="10941" y="14066"/>
                    <a:pt x="10453" y="13665"/>
                  </a:cubicBezTo>
                  <a:cubicBezTo>
                    <a:pt x="9966" y="13263"/>
                    <a:pt x="9338" y="13040"/>
                    <a:pt x="8781" y="13397"/>
                  </a:cubicBezTo>
                  <a:cubicBezTo>
                    <a:pt x="8224" y="13754"/>
                    <a:pt x="7597" y="14870"/>
                    <a:pt x="7109" y="15807"/>
                  </a:cubicBezTo>
                  <a:cubicBezTo>
                    <a:pt x="6621" y="16744"/>
                    <a:pt x="6412" y="18262"/>
                    <a:pt x="5855" y="19020"/>
                  </a:cubicBezTo>
                  <a:cubicBezTo>
                    <a:pt x="5297" y="19779"/>
                    <a:pt x="4391" y="20091"/>
                    <a:pt x="3764" y="20359"/>
                  </a:cubicBezTo>
                  <a:cubicBezTo>
                    <a:pt x="3137" y="20627"/>
                    <a:pt x="2649" y="20671"/>
                    <a:pt x="2092" y="20627"/>
                  </a:cubicBezTo>
                  <a:cubicBezTo>
                    <a:pt x="1535" y="20582"/>
                    <a:pt x="71" y="20939"/>
                    <a:pt x="2" y="19824"/>
                  </a:cubicBezTo>
                  <a:close/>
                  <a:moveTo>
                    <a:pt x="2" y="19824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7" name="AutoShape 248">
              <a:extLst>
                <a:ext uri="{FF2B5EF4-FFF2-40B4-BE49-F238E27FC236}">
                  <a16:creationId xmlns:a16="http://schemas.microsoft.com/office/drawing/2014/main" id="{01BA1390-8F0D-83D9-FA5A-B8C877423DCA}"/>
                </a:ext>
              </a:extLst>
            </p:cNvPr>
            <p:cNvSpPr>
              <a:spLocks/>
            </p:cNvSpPr>
            <p:nvPr/>
          </p:nvSpPr>
          <p:spPr bwMode="auto">
            <a:xfrm rot="-480000">
              <a:off x="5961063" y="4275138"/>
              <a:ext cx="250825" cy="371475"/>
            </a:xfrm>
            <a:custGeom>
              <a:avLst/>
              <a:gdLst>
                <a:gd name="T0" fmla="*/ 0 w 21537"/>
                <a:gd name="T1" fmla="*/ 0 h 21339"/>
                <a:gd name="T2" fmla="*/ 21537 w 21537"/>
                <a:gd name="T3" fmla="*/ 21339 h 21339"/>
              </a:gdLst>
              <a:ahLst/>
              <a:cxnLst/>
              <a:rect l="T0" t="T1" r="T2" b="T3"/>
              <a:pathLst>
                <a:path w="21537" h="21339">
                  <a:moveTo>
                    <a:pt x="11659" y="5892"/>
                  </a:moveTo>
                  <a:cubicBezTo>
                    <a:pt x="11136" y="5435"/>
                    <a:pt x="10837" y="2964"/>
                    <a:pt x="9866" y="2048"/>
                  </a:cubicBezTo>
                  <a:cubicBezTo>
                    <a:pt x="8894" y="1133"/>
                    <a:pt x="6876" y="355"/>
                    <a:pt x="5830" y="401"/>
                  </a:cubicBezTo>
                  <a:cubicBezTo>
                    <a:pt x="4783" y="447"/>
                    <a:pt x="3887" y="1408"/>
                    <a:pt x="3588" y="2323"/>
                  </a:cubicBezTo>
                  <a:cubicBezTo>
                    <a:pt x="3289" y="3238"/>
                    <a:pt x="4260" y="4337"/>
                    <a:pt x="4036" y="5892"/>
                  </a:cubicBezTo>
                  <a:cubicBezTo>
                    <a:pt x="3812" y="7448"/>
                    <a:pt x="2915" y="10148"/>
                    <a:pt x="2242" y="11659"/>
                  </a:cubicBezTo>
                  <a:cubicBezTo>
                    <a:pt x="1570" y="13169"/>
                    <a:pt x="0" y="13809"/>
                    <a:pt x="0" y="14953"/>
                  </a:cubicBezTo>
                  <a:cubicBezTo>
                    <a:pt x="0" y="16098"/>
                    <a:pt x="1271" y="17608"/>
                    <a:pt x="2242" y="18523"/>
                  </a:cubicBezTo>
                  <a:cubicBezTo>
                    <a:pt x="3214" y="19438"/>
                    <a:pt x="4634" y="20125"/>
                    <a:pt x="5830" y="20445"/>
                  </a:cubicBezTo>
                  <a:cubicBezTo>
                    <a:pt x="7026" y="20765"/>
                    <a:pt x="8371" y="20491"/>
                    <a:pt x="9417" y="20445"/>
                  </a:cubicBezTo>
                  <a:cubicBezTo>
                    <a:pt x="10464" y="20399"/>
                    <a:pt x="11211" y="20033"/>
                    <a:pt x="12108" y="20170"/>
                  </a:cubicBezTo>
                  <a:cubicBezTo>
                    <a:pt x="13005" y="20308"/>
                    <a:pt x="13902" y="21131"/>
                    <a:pt x="14799" y="21269"/>
                  </a:cubicBezTo>
                  <a:cubicBezTo>
                    <a:pt x="15696" y="21406"/>
                    <a:pt x="16518" y="21360"/>
                    <a:pt x="17489" y="20994"/>
                  </a:cubicBezTo>
                  <a:cubicBezTo>
                    <a:pt x="18461" y="20628"/>
                    <a:pt x="19956" y="19530"/>
                    <a:pt x="20628" y="19072"/>
                  </a:cubicBezTo>
                  <a:cubicBezTo>
                    <a:pt x="21301" y="18614"/>
                    <a:pt x="21450" y="18889"/>
                    <a:pt x="21525" y="18248"/>
                  </a:cubicBezTo>
                  <a:cubicBezTo>
                    <a:pt x="21600" y="17608"/>
                    <a:pt x="21301" y="16281"/>
                    <a:pt x="21077" y="15228"/>
                  </a:cubicBezTo>
                  <a:cubicBezTo>
                    <a:pt x="20853" y="14175"/>
                    <a:pt x="20255" y="13169"/>
                    <a:pt x="20180" y="11933"/>
                  </a:cubicBezTo>
                  <a:cubicBezTo>
                    <a:pt x="20105" y="10698"/>
                    <a:pt x="20628" y="9050"/>
                    <a:pt x="20628" y="7814"/>
                  </a:cubicBezTo>
                  <a:cubicBezTo>
                    <a:pt x="20628" y="6579"/>
                    <a:pt x="20554" y="5572"/>
                    <a:pt x="20180" y="4520"/>
                  </a:cubicBezTo>
                  <a:cubicBezTo>
                    <a:pt x="19806" y="3467"/>
                    <a:pt x="19059" y="2186"/>
                    <a:pt x="18386" y="1499"/>
                  </a:cubicBezTo>
                  <a:cubicBezTo>
                    <a:pt x="17713" y="813"/>
                    <a:pt x="16817" y="630"/>
                    <a:pt x="16144" y="401"/>
                  </a:cubicBezTo>
                  <a:cubicBezTo>
                    <a:pt x="15471" y="172"/>
                    <a:pt x="14873" y="-194"/>
                    <a:pt x="14350" y="126"/>
                  </a:cubicBezTo>
                  <a:cubicBezTo>
                    <a:pt x="13827" y="447"/>
                    <a:pt x="13229" y="1545"/>
                    <a:pt x="13005" y="2323"/>
                  </a:cubicBezTo>
                  <a:cubicBezTo>
                    <a:pt x="12781" y="3101"/>
                    <a:pt x="13080" y="4062"/>
                    <a:pt x="13005" y="4794"/>
                  </a:cubicBezTo>
                  <a:cubicBezTo>
                    <a:pt x="12930" y="5526"/>
                    <a:pt x="12183" y="6350"/>
                    <a:pt x="11659" y="5892"/>
                  </a:cubicBezTo>
                  <a:close/>
                  <a:moveTo>
                    <a:pt x="11659" y="5892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8" name="Line 249">
              <a:extLst>
                <a:ext uri="{FF2B5EF4-FFF2-40B4-BE49-F238E27FC236}">
                  <a16:creationId xmlns:a16="http://schemas.microsoft.com/office/drawing/2014/main" id="{63EE61DC-2E78-30E7-F980-81B663172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6438" y="5000625"/>
              <a:ext cx="1714500" cy="1428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49" name="Line 250">
              <a:extLst>
                <a:ext uri="{FF2B5EF4-FFF2-40B4-BE49-F238E27FC236}">
                  <a16:creationId xmlns:a16="http://schemas.microsoft.com/office/drawing/2014/main" id="{4CDF1DFB-0A18-40D0-1022-C0F7529CD8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143625" y="4929188"/>
              <a:ext cx="39688" cy="230187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0" name="Line 251">
              <a:extLst>
                <a:ext uri="{FF2B5EF4-FFF2-40B4-BE49-F238E27FC236}">
                  <a16:creationId xmlns:a16="http://schemas.microsoft.com/office/drawing/2014/main" id="{CCD4F463-A657-E6ED-236A-0F7F005FE0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286500" y="4357688"/>
              <a:ext cx="785813" cy="1206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1" name="Line 252">
              <a:extLst>
                <a:ext uri="{FF2B5EF4-FFF2-40B4-BE49-F238E27FC236}">
                  <a16:creationId xmlns:a16="http://schemas.microsoft.com/office/drawing/2014/main" id="{8D059DF4-375A-2D30-E011-B2F3CAC5E9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858000" y="4071938"/>
              <a:ext cx="336550" cy="3524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2" name="AutoShape 253">
              <a:extLst>
                <a:ext uri="{FF2B5EF4-FFF2-40B4-BE49-F238E27FC236}">
                  <a16:creationId xmlns:a16="http://schemas.microsoft.com/office/drawing/2014/main" id="{7313F79F-BFC3-0707-CF52-8013BA9D8506}"/>
                </a:ext>
              </a:extLst>
            </p:cNvPr>
            <p:cNvSpPr>
              <a:spLocks/>
            </p:cNvSpPr>
            <p:nvPr/>
          </p:nvSpPr>
          <p:spPr bwMode="auto">
            <a:xfrm rot="660000">
              <a:off x="7051675" y="4622800"/>
              <a:ext cx="223838" cy="547688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rgbClr val="2D2DB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3" name="Line 254">
              <a:extLst>
                <a:ext uri="{FF2B5EF4-FFF2-40B4-BE49-F238E27FC236}">
                  <a16:creationId xmlns:a16="http://schemas.microsoft.com/office/drawing/2014/main" id="{5319AEE0-51E5-5CDD-3A6E-0CF1E55E04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500938" y="4143375"/>
              <a:ext cx="149225" cy="32861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4" name="AutoShape 255">
              <a:extLst>
                <a:ext uri="{FF2B5EF4-FFF2-40B4-BE49-F238E27FC236}">
                  <a16:creationId xmlns:a16="http://schemas.microsoft.com/office/drawing/2014/main" id="{BE633A01-D93F-0686-3E46-913470BDD69B}"/>
                </a:ext>
              </a:extLst>
            </p:cNvPr>
            <p:cNvSpPr>
              <a:spLocks/>
            </p:cNvSpPr>
            <p:nvPr/>
          </p:nvSpPr>
          <p:spPr bwMode="auto">
            <a:xfrm rot="239999" flipV="1">
              <a:off x="7689850" y="4079875"/>
              <a:ext cx="292100" cy="1336675"/>
            </a:xfrm>
            <a:custGeom>
              <a:avLst/>
              <a:gdLst>
                <a:gd name="T0" fmla="*/ 0 w 21599"/>
                <a:gd name="T1" fmla="*/ 0 h 21600"/>
                <a:gd name="T2" fmla="*/ 21599 w 21599"/>
                <a:gd name="T3" fmla="*/ 21600 h 21600"/>
              </a:gdLst>
              <a:ahLst/>
              <a:cxnLst/>
              <a:rect l="T0" t="T1" r="T2" b="T3"/>
              <a:pathLst>
                <a:path w="21599" h="21600">
                  <a:moveTo>
                    <a:pt x="0" y="0"/>
                  </a:moveTo>
                  <a:cubicBezTo>
                    <a:pt x="11929" y="0"/>
                    <a:pt x="21599" y="3853"/>
                    <a:pt x="21599" y="8606"/>
                  </a:cubicBezTo>
                  <a:lnTo>
                    <a:pt x="21599" y="11714"/>
                  </a:lnTo>
                  <a:cubicBezTo>
                    <a:pt x="21600" y="15639"/>
                    <a:pt x="14937" y="19066"/>
                    <a:pt x="5401" y="20048"/>
                  </a:cubicBezTo>
                  <a:lnTo>
                    <a:pt x="5400" y="21600"/>
                  </a:lnTo>
                  <a:lnTo>
                    <a:pt x="0" y="18766"/>
                  </a:lnTo>
                  <a:lnTo>
                    <a:pt x="5400" y="15385"/>
                  </a:lnTo>
                  <a:lnTo>
                    <a:pt x="5401" y="16940"/>
                  </a:lnTo>
                  <a:cubicBezTo>
                    <a:pt x="13545" y="16102"/>
                    <a:pt x="19727" y="13456"/>
                    <a:pt x="21245" y="10159"/>
                  </a:cubicBezTo>
                  <a:lnTo>
                    <a:pt x="21244" y="10160"/>
                  </a:lnTo>
                  <a:cubicBezTo>
                    <a:pt x="19361" y="6074"/>
                    <a:pt x="10424" y="3108"/>
                    <a:pt x="0" y="3108"/>
                  </a:cubicBezTo>
                  <a:close/>
                  <a:moveTo>
                    <a:pt x="21599" y="11714"/>
                  </a:moveTo>
                  <a:cubicBezTo>
                    <a:pt x="21599" y="11193"/>
                    <a:pt x="21480" y="10672"/>
                    <a:pt x="21244" y="10160"/>
                  </a:cubicBezTo>
                </a:path>
              </a:pathLst>
            </a:custGeom>
            <a:noFill/>
            <a:ln w="6350">
              <a:solidFill>
                <a:srgbClr val="00997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5" name="Rectangle 256">
              <a:extLst>
                <a:ext uri="{FF2B5EF4-FFF2-40B4-BE49-F238E27FC236}">
                  <a16:creationId xmlns:a16="http://schemas.microsoft.com/office/drawing/2014/main" id="{65C32B75-ABE9-2E42-12B9-37F25098577C}"/>
                </a:ext>
              </a:extLst>
            </p:cNvPr>
            <p:cNvSpPr>
              <a:spLocks/>
            </p:cNvSpPr>
            <p:nvPr/>
          </p:nvSpPr>
          <p:spPr bwMode="auto">
            <a:xfrm rot="-6000000">
              <a:off x="7479507" y="4568031"/>
              <a:ext cx="101600" cy="428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6" name="AutoShape 257">
              <a:extLst>
                <a:ext uri="{FF2B5EF4-FFF2-40B4-BE49-F238E27FC236}">
                  <a16:creationId xmlns:a16="http://schemas.microsoft.com/office/drawing/2014/main" id="{E86DF806-9685-4729-CDC3-52892E66F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5063" y="4286250"/>
              <a:ext cx="93662" cy="82550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21600 h 21600"/>
              </a:gdLst>
              <a:ahLst/>
              <a:cxnLst/>
              <a:rect l="T0" t="T1" r="T2" b="T3"/>
              <a:pathLst>
                <a:path w="21600" h="21600">
                  <a:moveTo>
                    <a:pt x="0" y="10800"/>
                  </a:move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743" y="14000"/>
                  </a:moveTo>
                  <a:lnTo>
                    <a:pt x="16743" y="14000"/>
                  </a:lnTo>
                  <a:cubicBezTo>
                    <a:pt x="18510" y="10718"/>
                    <a:pt x="17282" y="6624"/>
                    <a:pt x="14000" y="4857"/>
                  </a:cubicBezTo>
                  <a:cubicBezTo>
                    <a:pt x="12002" y="3781"/>
                    <a:pt x="9598" y="3781"/>
                    <a:pt x="7600" y="4857"/>
                  </a:cubicBezTo>
                  <a:close/>
                  <a:moveTo>
                    <a:pt x="4857" y="7600"/>
                  </a:moveTo>
                  <a:lnTo>
                    <a:pt x="4857" y="7600"/>
                  </a:lnTo>
                  <a:cubicBezTo>
                    <a:pt x="3089" y="10882"/>
                    <a:pt x="4318" y="14976"/>
                    <a:pt x="7600" y="16743"/>
                  </a:cubicBezTo>
                  <a:cubicBezTo>
                    <a:pt x="9598" y="17819"/>
                    <a:pt x="12002" y="17819"/>
                    <a:pt x="14000" y="16743"/>
                  </a:cubicBezTo>
                  <a:close/>
                  <a:moveTo>
                    <a:pt x="4857" y="7600"/>
                  </a:move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7" name="Line 260">
              <a:extLst>
                <a:ext uri="{FF2B5EF4-FFF2-40B4-BE49-F238E27FC236}">
                  <a16:creationId xmlns:a16="http://schemas.microsoft.com/office/drawing/2014/main" id="{A3168A8D-CD42-2E56-6A59-298B64B8B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6513" y="4572000"/>
              <a:ext cx="796925" cy="4365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8" name="Line 261">
              <a:extLst>
                <a:ext uri="{FF2B5EF4-FFF2-40B4-BE49-F238E27FC236}">
                  <a16:creationId xmlns:a16="http://schemas.microsoft.com/office/drawing/2014/main" id="{809198A8-295B-8849-A4B1-56EFEB338A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072188" y="4214813"/>
              <a:ext cx="38100" cy="2286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9" name="Rectangle 262">
              <a:extLst>
                <a:ext uri="{FF2B5EF4-FFF2-40B4-BE49-F238E27FC236}">
                  <a16:creationId xmlns:a16="http://schemas.microsoft.com/office/drawing/2014/main" id="{EDF43FCB-2A67-C97D-01D7-4E7D1B813310}"/>
                </a:ext>
              </a:extLst>
            </p:cNvPr>
            <p:cNvSpPr>
              <a:spLocks/>
            </p:cNvSpPr>
            <p:nvPr/>
          </p:nvSpPr>
          <p:spPr bwMode="auto">
            <a:xfrm rot="-4440000">
              <a:off x="7413625" y="5105400"/>
              <a:ext cx="101600" cy="444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0" name="Line 263">
              <a:extLst>
                <a:ext uri="{FF2B5EF4-FFF2-40B4-BE49-F238E27FC236}">
                  <a16:creationId xmlns:a16="http://schemas.microsoft.com/office/drawing/2014/main" id="{909F032D-A53D-5645-623D-D849C4014F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358063" y="4000500"/>
              <a:ext cx="101600" cy="230188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61" name="Line 264">
              <a:extLst>
                <a:ext uri="{FF2B5EF4-FFF2-40B4-BE49-F238E27FC236}">
                  <a16:creationId xmlns:a16="http://schemas.microsoft.com/office/drawing/2014/main" id="{8BB47C8F-B571-12AD-FF87-87FCEFEB00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15188" y="5214938"/>
              <a:ext cx="161925" cy="153987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62" name="AutoShape 266">
              <a:extLst>
                <a:ext uri="{FF2B5EF4-FFF2-40B4-BE49-F238E27FC236}">
                  <a16:creationId xmlns:a16="http://schemas.microsoft.com/office/drawing/2014/main" id="{FB3F888F-EB61-3E63-63A1-96546CC44119}"/>
                </a:ext>
              </a:extLst>
            </p:cNvPr>
            <p:cNvSpPr>
              <a:spLocks/>
            </p:cNvSpPr>
            <p:nvPr/>
          </p:nvSpPr>
          <p:spPr bwMode="auto">
            <a:xfrm rot="1020000">
              <a:off x="6989763" y="4130675"/>
              <a:ext cx="303212" cy="458788"/>
            </a:xfrm>
            <a:custGeom>
              <a:avLst/>
              <a:gdLst>
                <a:gd name="T0" fmla="*/ 0 w 21436"/>
                <a:gd name="T1" fmla="*/ 0 h 21259"/>
                <a:gd name="T2" fmla="*/ 21436 w 21436"/>
                <a:gd name="T3" fmla="*/ 21259 h 21259"/>
              </a:gdLst>
              <a:ahLst/>
              <a:cxnLst/>
              <a:rect l="T0" t="T1" r="T2" b="T3"/>
              <a:pathLst>
                <a:path w="21436" h="21259">
                  <a:moveTo>
                    <a:pt x="751" y="10"/>
                  </a:moveTo>
                  <a:cubicBezTo>
                    <a:pt x="-164" y="135"/>
                    <a:pt x="-164" y="1094"/>
                    <a:pt x="329" y="2512"/>
                  </a:cubicBezTo>
                  <a:cubicBezTo>
                    <a:pt x="821" y="3930"/>
                    <a:pt x="2650" y="6682"/>
                    <a:pt x="3706" y="8517"/>
                  </a:cubicBezTo>
                  <a:cubicBezTo>
                    <a:pt x="4761" y="10351"/>
                    <a:pt x="5816" y="12395"/>
                    <a:pt x="6661" y="13520"/>
                  </a:cubicBezTo>
                  <a:cubicBezTo>
                    <a:pt x="7505" y="14646"/>
                    <a:pt x="7927" y="14730"/>
                    <a:pt x="8771" y="15272"/>
                  </a:cubicBezTo>
                  <a:cubicBezTo>
                    <a:pt x="9616" y="15814"/>
                    <a:pt x="11727" y="16773"/>
                    <a:pt x="11727" y="16773"/>
                  </a:cubicBezTo>
                  <a:cubicBezTo>
                    <a:pt x="12782" y="17315"/>
                    <a:pt x="14048" y="17857"/>
                    <a:pt x="15104" y="18524"/>
                  </a:cubicBezTo>
                  <a:cubicBezTo>
                    <a:pt x="16159" y="19192"/>
                    <a:pt x="17285" y="20359"/>
                    <a:pt x="18059" y="20776"/>
                  </a:cubicBezTo>
                  <a:cubicBezTo>
                    <a:pt x="18833" y="21193"/>
                    <a:pt x="19184" y="21485"/>
                    <a:pt x="19747" y="21026"/>
                  </a:cubicBezTo>
                  <a:cubicBezTo>
                    <a:pt x="20310" y="20568"/>
                    <a:pt x="21436" y="19317"/>
                    <a:pt x="21436" y="18024"/>
                  </a:cubicBezTo>
                  <a:cubicBezTo>
                    <a:pt x="21436" y="16731"/>
                    <a:pt x="20592" y="14730"/>
                    <a:pt x="19747" y="13270"/>
                  </a:cubicBezTo>
                  <a:cubicBezTo>
                    <a:pt x="18903" y="11811"/>
                    <a:pt x="17918" y="10643"/>
                    <a:pt x="16370" y="9267"/>
                  </a:cubicBezTo>
                  <a:cubicBezTo>
                    <a:pt x="14822" y="7891"/>
                    <a:pt x="12219" y="6265"/>
                    <a:pt x="10460" y="5014"/>
                  </a:cubicBezTo>
                  <a:cubicBezTo>
                    <a:pt x="8701" y="3763"/>
                    <a:pt x="7364" y="2554"/>
                    <a:pt x="5816" y="1761"/>
                  </a:cubicBezTo>
                  <a:cubicBezTo>
                    <a:pt x="4269" y="969"/>
                    <a:pt x="1665" y="-115"/>
                    <a:pt x="751" y="10"/>
                  </a:cubicBezTo>
                  <a:close/>
                  <a:moveTo>
                    <a:pt x="751" y="10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3" name="AutoShape 267">
              <a:extLst>
                <a:ext uri="{FF2B5EF4-FFF2-40B4-BE49-F238E27FC236}">
                  <a16:creationId xmlns:a16="http://schemas.microsoft.com/office/drawing/2014/main" id="{6AF329C1-3E14-4C65-6307-39FC95AF9697}"/>
                </a:ext>
              </a:extLst>
            </p:cNvPr>
            <p:cNvSpPr>
              <a:spLocks/>
            </p:cNvSpPr>
            <p:nvPr/>
          </p:nvSpPr>
          <p:spPr bwMode="auto">
            <a:xfrm rot="299999">
              <a:off x="6853238" y="5087938"/>
              <a:ext cx="200025" cy="436562"/>
            </a:xfrm>
            <a:custGeom>
              <a:avLst/>
              <a:gdLst>
                <a:gd name="T0" fmla="*/ 0 w 21197"/>
                <a:gd name="T1" fmla="*/ 0 h 21088"/>
                <a:gd name="T2" fmla="*/ 21197 w 21197"/>
                <a:gd name="T3" fmla="*/ 21088 h 21088"/>
              </a:gdLst>
              <a:ahLst/>
              <a:cxnLst/>
              <a:rect l="T0" t="T1" r="T2" b="T3"/>
              <a:pathLst>
                <a:path w="21197" h="21088">
                  <a:moveTo>
                    <a:pt x="19124" y="52"/>
                  </a:moveTo>
                  <a:cubicBezTo>
                    <a:pt x="18095" y="-294"/>
                    <a:pt x="16209" y="1175"/>
                    <a:pt x="15009" y="1866"/>
                  </a:cubicBezTo>
                  <a:cubicBezTo>
                    <a:pt x="13809" y="2557"/>
                    <a:pt x="13295" y="3421"/>
                    <a:pt x="11923" y="4199"/>
                  </a:cubicBezTo>
                  <a:cubicBezTo>
                    <a:pt x="10552" y="4976"/>
                    <a:pt x="8323" y="5236"/>
                    <a:pt x="6781" y="6532"/>
                  </a:cubicBezTo>
                  <a:cubicBezTo>
                    <a:pt x="5238" y="7828"/>
                    <a:pt x="3781" y="10074"/>
                    <a:pt x="2666" y="11975"/>
                  </a:cubicBezTo>
                  <a:cubicBezTo>
                    <a:pt x="1552" y="13876"/>
                    <a:pt x="438" y="16511"/>
                    <a:pt x="95" y="17936"/>
                  </a:cubicBezTo>
                  <a:cubicBezTo>
                    <a:pt x="-248" y="19362"/>
                    <a:pt x="438" y="20010"/>
                    <a:pt x="609" y="20528"/>
                  </a:cubicBezTo>
                  <a:cubicBezTo>
                    <a:pt x="781" y="21047"/>
                    <a:pt x="352" y="21047"/>
                    <a:pt x="1123" y="21047"/>
                  </a:cubicBezTo>
                  <a:cubicBezTo>
                    <a:pt x="1895" y="21047"/>
                    <a:pt x="3352" y="21306"/>
                    <a:pt x="5238" y="20528"/>
                  </a:cubicBezTo>
                  <a:cubicBezTo>
                    <a:pt x="7123" y="19751"/>
                    <a:pt x="10038" y="18196"/>
                    <a:pt x="12438" y="16381"/>
                  </a:cubicBezTo>
                  <a:cubicBezTo>
                    <a:pt x="14838" y="14567"/>
                    <a:pt x="18181" y="11716"/>
                    <a:pt x="19638" y="9642"/>
                  </a:cubicBezTo>
                  <a:cubicBezTo>
                    <a:pt x="21095" y="7568"/>
                    <a:pt x="21009" y="5452"/>
                    <a:pt x="21181" y="3940"/>
                  </a:cubicBezTo>
                  <a:cubicBezTo>
                    <a:pt x="21352" y="2428"/>
                    <a:pt x="20152" y="397"/>
                    <a:pt x="19124" y="52"/>
                  </a:cubicBezTo>
                  <a:close/>
                  <a:moveTo>
                    <a:pt x="19124" y="52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4" name="Rectangle 268">
              <a:extLst>
                <a:ext uri="{FF2B5EF4-FFF2-40B4-BE49-F238E27FC236}">
                  <a16:creationId xmlns:a16="http://schemas.microsoft.com/office/drawing/2014/main" id="{820102D8-9A74-CC6E-5046-D0050B0FA993}"/>
                </a:ext>
              </a:extLst>
            </p:cNvPr>
            <p:cNvSpPr>
              <a:spLocks/>
            </p:cNvSpPr>
            <p:nvPr/>
          </p:nvSpPr>
          <p:spPr bwMode="auto">
            <a:xfrm rot="-6000000">
              <a:off x="7051675" y="4567238"/>
              <a:ext cx="101600" cy="444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5" name="Rectangle 269">
              <a:extLst>
                <a:ext uri="{FF2B5EF4-FFF2-40B4-BE49-F238E27FC236}">
                  <a16:creationId xmlns:a16="http://schemas.microsoft.com/office/drawing/2014/main" id="{81D19F74-6BB6-BE5C-1AF4-1EE332215E61}"/>
                </a:ext>
              </a:extLst>
            </p:cNvPr>
            <p:cNvSpPr>
              <a:spLocks/>
            </p:cNvSpPr>
            <p:nvPr/>
          </p:nvSpPr>
          <p:spPr bwMode="auto">
            <a:xfrm rot="-4440000">
              <a:off x="6914356" y="5066507"/>
              <a:ext cx="100013" cy="444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6" name="AutoShape 271">
              <a:extLst>
                <a:ext uri="{FF2B5EF4-FFF2-40B4-BE49-F238E27FC236}">
                  <a16:creationId xmlns:a16="http://schemas.microsoft.com/office/drawing/2014/main" id="{942A1EE6-D9DE-CCC7-6689-96A10149D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5214938"/>
              <a:ext cx="93662" cy="82550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21600 h 21600"/>
              </a:gdLst>
              <a:ahLst/>
              <a:cxnLst/>
              <a:rect l="T0" t="T1" r="T2" b="T3"/>
              <a:pathLst>
                <a:path w="21600" h="21600">
                  <a:moveTo>
                    <a:pt x="0" y="10800"/>
                  </a:move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743" y="14000"/>
                  </a:moveTo>
                  <a:lnTo>
                    <a:pt x="16743" y="14000"/>
                  </a:lnTo>
                  <a:cubicBezTo>
                    <a:pt x="18510" y="10718"/>
                    <a:pt x="17282" y="6624"/>
                    <a:pt x="14000" y="4857"/>
                  </a:cubicBezTo>
                  <a:cubicBezTo>
                    <a:pt x="12002" y="3781"/>
                    <a:pt x="9598" y="3781"/>
                    <a:pt x="7600" y="4857"/>
                  </a:cubicBezTo>
                  <a:close/>
                  <a:moveTo>
                    <a:pt x="4857" y="7600"/>
                  </a:moveTo>
                  <a:lnTo>
                    <a:pt x="4857" y="7600"/>
                  </a:lnTo>
                  <a:cubicBezTo>
                    <a:pt x="3089" y="10882"/>
                    <a:pt x="4318" y="14976"/>
                    <a:pt x="7600" y="16743"/>
                  </a:cubicBezTo>
                  <a:cubicBezTo>
                    <a:pt x="9598" y="17819"/>
                    <a:pt x="12002" y="17819"/>
                    <a:pt x="14000" y="16743"/>
                  </a:cubicBezTo>
                  <a:close/>
                  <a:moveTo>
                    <a:pt x="4857" y="7600"/>
                  </a:move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69" name="왼쪽/오른쪽/위쪽/아래쪽 설명선 68">
              <a:extLst>
                <a:ext uri="{FF2B5EF4-FFF2-40B4-BE49-F238E27FC236}">
                  <a16:creationId xmlns:a16="http://schemas.microsoft.com/office/drawing/2014/main" id="{ADAFA276-CE41-220F-E8D2-C05B823F6249}"/>
                </a:ext>
              </a:extLst>
            </p:cNvPr>
            <p:cNvSpPr/>
            <p:nvPr/>
          </p:nvSpPr>
          <p:spPr bwMode="auto">
            <a:xfrm>
              <a:off x="6358037" y="4071462"/>
              <a:ext cx="427682" cy="286624"/>
            </a:xfrm>
            <a:prstGeom prst="quadArrowCallou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160">
                <a:latin typeface="Times New Roman Bold" charset="0"/>
                <a:ea typeface="ヒラギノ明朝 ProN W6" pitchFamily="4" charset="-128"/>
                <a:sym typeface="Times New Roman Bold" charset="0"/>
              </a:endParaRPr>
            </a:p>
          </p:txBody>
        </p:sp>
        <p:sp>
          <p:nvSpPr>
            <p:cNvPr id="3168" name="위로 구부러진 화살표 69">
              <a:extLst>
                <a:ext uri="{FF2B5EF4-FFF2-40B4-BE49-F238E27FC236}">
                  <a16:creationId xmlns:a16="http://schemas.microsoft.com/office/drawing/2014/main" id="{0B2D5533-C13C-B347-7BB5-19880FF8C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5063" y="5214938"/>
              <a:ext cx="285750" cy="214312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  <p:sp>
          <p:nvSpPr>
            <p:cNvPr id="3169" name="위로 구부러진 화살표 70">
              <a:extLst>
                <a:ext uri="{FF2B5EF4-FFF2-40B4-BE49-F238E27FC236}">
                  <a16:creationId xmlns:a16="http://schemas.microsoft.com/office/drawing/2014/main" id="{64F01E2F-22A8-FA69-9FE4-96E3A931EAE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429500" y="4643438"/>
              <a:ext cx="285750" cy="214312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63FCD37-9BB4-D67C-2DB3-4D8E65A0F0F2}"/>
              </a:ext>
            </a:extLst>
          </p:cNvPr>
          <p:cNvGrpSpPr/>
          <p:nvPr/>
        </p:nvGrpSpPr>
        <p:grpSpPr>
          <a:xfrm>
            <a:off x="3986545" y="4865776"/>
            <a:ext cx="2314576" cy="1509335"/>
            <a:chOff x="4229100" y="5057776"/>
            <a:chExt cx="2314576" cy="1628775"/>
          </a:xfrm>
        </p:grpSpPr>
        <p:cxnSp>
          <p:nvCxnSpPr>
            <p:cNvPr id="3136" name="직선 연결선 61">
              <a:extLst>
                <a:ext uri="{FF2B5EF4-FFF2-40B4-BE49-F238E27FC236}">
                  <a16:creationId xmlns:a16="http://schemas.microsoft.com/office/drawing/2014/main" id="{90100080-5CE0-51A8-5376-D45FDCBDFB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86276" y="5829300"/>
              <a:ext cx="1790700" cy="190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37" name="AutoShape 265">
              <a:extLst>
                <a:ext uri="{FF2B5EF4-FFF2-40B4-BE49-F238E27FC236}">
                  <a16:creationId xmlns:a16="http://schemas.microsoft.com/office/drawing/2014/main" id="{E77EF535-BA9B-9BDB-0FE3-C45A10147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100" y="5057776"/>
              <a:ext cx="2314576" cy="1626870"/>
            </a:xfrm>
            <a:prstGeom prst="roundRect">
              <a:avLst>
                <a:gd name="adj" fmla="val 3711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cxnSp>
          <p:nvCxnSpPr>
            <p:cNvPr id="3138" name="직선 연결선 65">
              <a:extLst>
                <a:ext uri="{FF2B5EF4-FFF2-40B4-BE49-F238E27FC236}">
                  <a16:creationId xmlns:a16="http://schemas.microsoft.com/office/drawing/2014/main" id="{129CE7AE-FA1C-54C1-63EC-755BB80220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4531043" y="5872164"/>
              <a:ext cx="1626870" cy="19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39" name="왼쪽/오른쪽 화살표 58">
              <a:extLst>
                <a:ext uri="{FF2B5EF4-FFF2-40B4-BE49-F238E27FC236}">
                  <a16:creationId xmlns:a16="http://schemas.microsoft.com/office/drawing/2014/main" id="{C76CDE2D-F2FF-A388-B02A-DEE81E7F3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1" y="5400676"/>
              <a:ext cx="521970" cy="287654"/>
            </a:xfrm>
            <a:prstGeom prst="leftRightArrow">
              <a:avLst>
                <a:gd name="adj1" fmla="val 50000"/>
                <a:gd name="adj2" fmla="val 49918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  <p:sp>
          <p:nvSpPr>
            <p:cNvPr id="3140" name="왼쪽/오른쪽 화살표 59">
              <a:extLst>
                <a:ext uri="{FF2B5EF4-FFF2-40B4-BE49-F238E27FC236}">
                  <a16:creationId xmlns:a16="http://schemas.microsoft.com/office/drawing/2014/main" id="{01220976-67B4-7F79-DC08-E98D21328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1" y="6000750"/>
              <a:ext cx="521970" cy="287656"/>
            </a:xfrm>
            <a:prstGeom prst="leftRightArrow">
              <a:avLst>
                <a:gd name="adj1" fmla="val 50000"/>
                <a:gd name="adj2" fmla="val 4991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</p:grpSp>
      <p:graphicFrame>
        <p:nvGraphicFramePr>
          <p:cNvPr id="50" name="ceph_table">
            <a:extLst>
              <a:ext uri="{FF2B5EF4-FFF2-40B4-BE49-F238E27FC236}">
                <a16:creationId xmlns:a16="http://schemas.microsoft.com/office/drawing/2014/main" id="{3BC28ECE-DCC8-4142-AF53-17182389A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568792"/>
              </p:ext>
            </p:extLst>
          </p:nvPr>
        </p:nvGraphicFramePr>
        <p:xfrm>
          <a:off x="243585" y="794606"/>
          <a:ext cx="2065991" cy="5770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1686">
                  <a:extLst>
                    <a:ext uri="{9D8B030D-6E8A-4147-A177-3AD203B41FA5}">
                      <a16:colId xmlns:a16="http://schemas.microsoft.com/office/drawing/2014/main" val="638297861"/>
                    </a:ext>
                  </a:extLst>
                </a:gridCol>
                <a:gridCol w="994305">
                  <a:extLst>
                    <a:ext uri="{9D8B030D-6E8A-4147-A177-3AD203B41FA5}">
                      <a16:colId xmlns:a16="http://schemas.microsoft.com/office/drawing/2014/main" val="2701874459"/>
                    </a:ext>
                  </a:extLst>
                </a:gridCol>
              </a:tblGrid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ANB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1.93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69341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SNA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79.31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66841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SNB 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77.37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98947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FMIA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58.04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06138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+mn-ea"/>
                          <a:ea typeface="+mn-ea"/>
                        </a:rPr>
                        <a:t>IMPA</a:t>
                      </a:r>
                      <a:endParaRPr lang="en-US" sz="7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94.55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29555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FMA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27.41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561349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PMA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26.02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99283"/>
                  </a:ext>
                </a:extLst>
              </a:tr>
              <a:tr h="1114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MAB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72.82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270413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NALA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94.6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180301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L.Lip E-line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0.08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473869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FA'B'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82.94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690238"/>
                  </a:ext>
                </a:extLst>
              </a:tr>
              <a:tr h="1765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FABA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79.77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021423"/>
                  </a:ext>
                </a:extLst>
              </a:tr>
              <a:tr h="131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+mn-ea"/>
                          <a:ea typeface="+mn-ea"/>
                        </a:rPr>
                        <a:t>A point-N-perp</a:t>
                      </a:r>
                      <a:endParaRPr lang="en-US" sz="7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-5.19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4276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Y-axis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63.1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882924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N-S-BaA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128.56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94428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S-A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122.81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87690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ACBA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5.6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40069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PPA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1.4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22823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FH&lt;Ans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34.7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79923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FH&lt;Pr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40.15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9787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FH&lt;B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57.04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948566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PCBA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62.79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00642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S-Por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30.54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8658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PCBL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48.21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5117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Ramus height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35.78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6867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FHR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64.61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19219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ACBL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65.93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72463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MxBL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51.12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009307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72.19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77093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MB-ACBL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6.26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564894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UGA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49.62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6201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LGA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70.57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121316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FUIA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50.28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98297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FLOPA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11.31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272789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AB&lt;LOP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91.08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05462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incisor Overbite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0.61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282776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incisor Overjet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6.89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50369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APDI(PABA)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81.17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493241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+mn-ea"/>
                          <a:ea typeface="+mn-ea"/>
                        </a:rPr>
                        <a:t>ODI</a:t>
                      </a:r>
                      <a:endParaRPr lang="en-US" sz="7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74.22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80794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D98FA26A-3AF7-40D9-BBDB-C00FB0A3E9CE}"/>
              </a:ext>
            </a:extLst>
          </p:cNvPr>
          <p:cNvSpPr/>
          <p:nvPr/>
        </p:nvSpPr>
        <p:spPr>
          <a:xfrm>
            <a:off x="3978322" y="1187318"/>
            <a:ext cx="4921789" cy="22283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C/C &amp; Main problem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1BD44D5-CCDA-477E-A977-ACD14328924F}"/>
              </a:ext>
            </a:extLst>
          </p:cNvPr>
          <p:cNvSpPr/>
          <p:nvPr/>
        </p:nvSpPr>
        <p:spPr>
          <a:xfrm>
            <a:off x="3978322" y="1443599"/>
            <a:ext cx="4921789" cy="20623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MPH: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FDD0BD-6E24-4729-AA8F-3E3E251783E2}"/>
              </a:ext>
            </a:extLst>
          </p:cNvPr>
          <p:cNvSpPr/>
          <p:nvPr/>
        </p:nvSpPr>
        <p:spPr>
          <a:xfrm>
            <a:off x="3968480" y="1669831"/>
            <a:ext cx="4914853" cy="101267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endParaRPr lang="en-US" altLang="ko-KR" sz="1800" dirty="0">
              <a:solidFill>
                <a:srgbClr val="000000"/>
              </a:solidFill>
              <a:ea typeface="굴림" panose="020B0600000101010101" pitchFamily="50" charset="-127"/>
              <a:cs typeface="Times New Roman Bold" panose="020208030705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FBCBFA-C464-477A-BFCA-01CFCF234764}"/>
              </a:ext>
            </a:extLst>
          </p:cNvPr>
          <p:cNvSpPr txBox="1"/>
          <p:nvPr/>
        </p:nvSpPr>
        <p:spPr>
          <a:xfrm>
            <a:off x="3978322" y="1688825"/>
            <a:ext cx="107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HGI:2.31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D4939E-738A-4CA0-90F1-DC310718C4F6}"/>
              </a:ext>
            </a:extLst>
          </p:cNvPr>
          <p:cNvSpPr txBox="1"/>
          <p:nvPr/>
        </p:nvSpPr>
        <p:spPr>
          <a:xfrm>
            <a:off x="3978322" y="1907899"/>
            <a:ext cx="34507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(1/5((C.L- ACB.L)*2+(UGA-50)+1/2(PCBA-64))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Times New Roman Bold" panose="020208030705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1B17C8-A600-4F89-8D15-C7306F1D4F37}"/>
              </a:ext>
            </a:extLst>
          </p:cNvPr>
          <p:cNvSpPr txBox="1"/>
          <p:nvPr/>
        </p:nvSpPr>
        <p:spPr>
          <a:xfrm>
            <a:off x="3978322" y="2159366"/>
            <a:ext cx="107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VGI:2.59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EE7522-181F-4156-B384-61FF517E5330}"/>
              </a:ext>
            </a:extLst>
          </p:cNvPr>
          <p:cNvSpPr txBox="1"/>
          <p:nvPr/>
        </p:nvSpPr>
        <p:spPr>
          <a:xfrm>
            <a:off x="3978322" y="2352908"/>
            <a:ext cx="34507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pt-BR" altLang="ko-KR" sz="12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(1/5((FHR-60)*2+(75-LGA)+1/2(ACBA-7))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EB47482-507B-436C-8FAD-7D05AF9CB78C}"/>
              </a:ext>
            </a:extLst>
          </p:cNvPr>
          <p:cNvGrpSpPr/>
          <p:nvPr/>
        </p:nvGrpSpPr>
        <p:grpSpPr>
          <a:xfrm>
            <a:off x="2380454" y="2816975"/>
            <a:ext cx="6512721" cy="223036"/>
            <a:chOff x="2380454" y="2816975"/>
            <a:chExt cx="6062571" cy="22303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4DD4990-583F-4291-B189-FEA1C828A3B4}"/>
                </a:ext>
              </a:extLst>
            </p:cNvPr>
            <p:cNvSpPr/>
            <p:nvPr/>
          </p:nvSpPr>
          <p:spPr>
            <a:xfrm>
              <a:off x="2380454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51C61F49-EDDD-44D5-AC11-774817747361}"/>
                </a:ext>
              </a:extLst>
            </p:cNvPr>
            <p:cNvSpPr/>
            <p:nvPr/>
          </p:nvSpPr>
          <p:spPr>
            <a:xfrm>
              <a:off x="5442649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743D290-64EE-4743-AFEE-7E8DE6CE9855}"/>
              </a:ext>
            </a:extLst>
          </p:cNvPr>
          <p:cNvGrpSpPr/>
          <p:nvPr/>
        </p:nvGrpSpPr>
        <p:grpSpPr>
          <a:xfrm>
            <a:off x="2384575" y="3557898"/>
            <a:ext cx="6512721" cy="223036"/>
            <a:chOff x="2380454" y="2816975"/>
            <a:chExt cx="6062571" cy="223036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BBFFE5B3-26F3-43FA-99C1-58D43A69123B}"/>
                </a:ext>
              </a:extLst>
            </p:cNvPr>
            <p:cNvSpPr/>
            <p:nvPr/>
          </p:nvSpPr>
          <p:spPr>
            <a:xfrm>
              <a:off x="2380454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C89199D8-77B4-4DC3-BB3F-E7851EEB3FD5}"/>
                </a:ext>
              </a:extLst>
            </p:cNvPr>
            <p:cNvSpPr/>
            <p:nvPr/>
          </p:nvSpPr>
          <p:spPr>
            <a:xfrm>
              <a:off x="5442649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DD77AA5-D0C0-42AC-90D9-2DB0BEA57AEC}"/>
              </a:ext>
            </a:extLst>
          </p:cNvPr>
          <p:cNvSpPr txBox="1"/>
          <p:nvPr/>
        </p:nvSpPr>
        <p:spPr>
          <a:xfrm>
            <a:off x="2359524" y="2750661"/>
            <a:ext cx="331049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IAPDI:81.99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8456CD-6269-40AE-B350-60F75154FDE2}"/>
              </a:ext>
            </a:extLst>
          </p:cNvPr>
          <p:cNvSpPr txBox="1"/>
          <p:nvPr/>
        </p:nvSpPr>
        <p:spPr>
          <a:xfrm>
            <a:off x="2359525" y="3032886"/>
            <a:ext cx="32585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(27.5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이하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)   95-0.5</a:t>
            </a:r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PMA</a:t>
            </a:r>
          </a:p>
          <a:p>
            <a:pPr eaLnBrk="1" hangingPunct="1"/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(27.5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이상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)  81+</a:t>
            </a:r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a (PMA-27.5)  ( a=3.5/4.4cos(AB to LOP))</a:t>
            </a:r>
          </a:p>
          <a:p>
            <a:pPr eaLnBrk="1" hangingPunct="1"/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        ( PABA 81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미만 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; -   ,   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이상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;+)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C150A7A-8942-4BCA-B643-0E2BE4DD6442}"/>
              </a:ext>
            </a:extLst>
          </p:cNvPr>
          <p:cNvSpPr txBox="1"/>
          <p:nvPr/>
        </p:nvSpPr>
        <p:spPr>
          <a:xfrm>
            <a:off x="5618069" y="2750661"/>
            <a:ext cx="330728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2APDL:-0.66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E5FF14-287C-47AC-9942-25FC623AD209}"/>
              </a:ext>
            </a:extLst>
          </p:cNvPr>
          <p:cNvSpPr txBox="1"/>
          <p:nvPr/>
        </p:nvSpPr>
        <p:spPr>
          <a:xfrm>
            <a:off x="2332627" y="3534607"/>
            <a:ext cx="32231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IODI:72.32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23616CA-FBA0-45B7-BE4F-57713B03978A}"/>
              </a:ext>
            </a:extLst>
          </p:cNvPr>
          <p:cNvSpPr txBox="1"/>
          <p:nvPr/>
        </p:nvSpPr>
        <p:spPr>
          <a:xfrm>
            <a:off x="2370468" y="3781304"/>
            <a:ext cx="34507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((80-0.3PMA-(0.776-0.008FMA)*(FABA-80))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A04D47-E75C-4626-8CDF-25CA3EA38B42}"/>
              </a:ext>
            </a:extLst>
          </p:cNvPr>
          <p:cNvSpPr txBox="1"/>
          <p:nvPr/>
        </p:nvSpPr>
        <p:spPr>
          <a:xfrm>
            <a:off x="5618070" y="3547717"/>
            <a:ext cx="33919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VDL:0.92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767695-EBC9-4D23-85CA-7D39B877FBEF}"/>
              </a:ext>
            </a:extLst>
          </p:cNvPr>
          <p:cNvSpPr txBox="1"/>
          <p:nvPr/>
        </p:nvSpPr>
        <p:spPr>
          <a:xfrm>
            <a:off x="5625493" y="3782087"/>
            <a:ext cx="34507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0.4849( ODI-IODI) mm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AEDFEB-54DD-4838-8851-001796CDCF99}"/>
              </a:ext>
            </a:extLst>
          </p:cNvPr>
          <p:cNvSpPr txBox="1"/>
          <p:nvPr/>
        </p:nvSpPr>
        <p:spPr>
          <a:xfrm>
            <a:off x="225650" y="469547"/>
            <a:ext cx="19894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CEPH RESULT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8605FB-5AF0-403A-955A-B283DEE616B1}"/>
              </a:ext>
            </a:extLst>
          </p:cNvPr>
          <p:cNvSpPr txBox="1"/>
          <p:nvPr/>
        </p:nvSpPr>
        <p:spPr>
          <a:xfrm>
            <a:off x="3936296" y="4237812"/>
            <a:ext cx="2425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CFD:1.08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55CC71-C3C0-4D30-AEB1-0FE2BAC6CEFC}"/>
              </a:ext>
            </a:extLst>
          </p:cNvPr>
          <p:cNvSpPr txBox="1"/>
          <p:nvPr/>
        </p:nvSpPr>
        <p:spPr>
          <a:xfrm>
            <a:off x="6451840" y="4237812"/>
            <a:ext cx="2473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Extraction:</a:t>
            </a:r>
          </a:p>
        </p:txBody>
      </p:sp>
      <p:sp>
        <p:nvSpPr>
          <p:cNvPr id="11" name="삼각형">
            <a:extLst>
              <a:ext uri="{FF2B5EF4-FFF2-40B4-BE49-F238E27FC236}">
                <a16:creationId xmlns:a16="http://schemas.microsoft.com/office/drawing/2014/main" id="{278701FC-2F26-5E95-4BB0-45026E9AA488}"/>
              </a:ext>
            </a:extLst>
          </p:cNvPr>
          <p:cNvSpPr>
            <a:spLocks/>
          </p:cNvSpPr>
          <p:nvPr/>
        </p:nvSpPr>
        <p:spPr bwMode="auto">
          <a:xfrm rot="10800000">
            <a:off x="7365398" y="2007902"/>
            <a:ext cx="768211" cy="357272"/>
          </a:xfrm>
          <a:prstGeom prst="rtTriangle">
            <a:avLst/>
          </a:prstGeom>
          <a:solidFill>
            <a:srgbClr val="AFF5D6"/>
          </a:solidFill>
          <a:ln w="6350">
            <a:noFill/>
            <a:round/>
            <a:headEnd/>
            <a:tailEnd/>
          </a:ln>
        </p:spPr>
        <p:txBody>
          <a:bodyPr lIns="0" tIns="0" rIns="0" bIns="0"/>
          <a:lstStyle/>
          <a:p>
            <a:pPr eaLnBrk="1" hangingPunct="1">
              <a:defRPr/>
            </a:pPr>
            <a:endParaRPr lang="ko-KR" altLang="en-US" dirty="0">
              <a:latin typeface="Times New Roman Bold" charset="0"/>
              <a:ea typeface="굴림" pitchFamily="4" charset="-127"/>
              <a:sym typeface="Times New Roman Bold" charset="0"/>
            </a:endParaRPr>
          </a:p>
        </p:txBody>
      </p:sp>
      <p:pic>
        <p:nvPicPr>
          <p:cNvPr id="3170" name="Picture 3169" descr="id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502920"/>
            <a:ext cx="146304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147FE-A153-B348-7A75-33F30DDB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" name="Picture 2" descr="psa_nam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5683"/>
            <a:ext cx="9144000" cy="456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0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147FE-A153-B348-7A75-33F30DDB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" name="Picture 2" descr="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52" y="0"/>
            <a:ext cx="2296026" cy="3429000"/>
          </a:xfrm>
          <a:prstGeom prst="rect">
            <a:avLst/>
          </a:prstGeom>
        </p:spPr>
      </p:pic>
      <p:pic>
        <p:nvPicPr>
          <p:cNvPr id="4" name="Picture 3" descr="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73" y="0"/>
            <a:ext cx="2296026" cy="3429000"/>
          </a:xfrm>
          <a:prstGeom prst="rect">
            <a:avLst/>
          </a:prstGeom>
        </p:spPr>
      </p:pic>
      <p:pic>
        <p:nvPicPr>
          <p:cNvPr id="5" name="Picture 4" descr="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2296026" cy="3429000"/>
          </a:xfrm>
          <a:prstGeom prst="rect">
            <a:avLst/>
          </a:prstGeom>
        </p:spPr>
      </p:pic>
      <p:pic>
        <p:nvPicPr>
          <p:cNvPr id="6" name="Picture 5" descr="id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026" y="0"/>
            <a:ext cx="2296026" cy="3429000"/>
          </a:xfrm>
          <a:prstGeom prst="rect">
            <a:avLst/>
          </a:prstGeom>
        </p:spPr>
      </p:pic>
      <p:pic>
        <p:nvPicPr>
          <p:cNvPr id="7" name="Picture 6" descr="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52" y="3429000"/>
            <a:ext cx="2296026" cy="3429000"/>
          </a:xfrm>
          <a:prstGeom prst="rect">
            <a:avLst/>
          </a:prstGeom>
        </p:spPr>
      </p:pic>
      <p:pic>
        <p:nvPicPr>
          <p:cNvPr id="8" name="Picture 7" descr="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73" y="3429000"/>
            <a:ext cx="2296026" cy="3429000"/>
          </a:xfrm>
          <a:prstGeom prst="rect">
            <a:avLst/>
          </a:prstGeom>
        </p:spPr>
      </p:pic>
      <p:pic>
        <p:nvPicPr>
          <p:cNvPr id="9" name="Picture 8" descr="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429000"/>
            <a:ext cx="2296026" cy="3429000"/>
          </a:xfrm>
          <a:prstGeom prst="rect">
            <a:avLst/>
          </a:prstGeom>
        </p:spPr>
      </p:pic>
      <p:pic>
        <p:nvPicPr>
          <p:cNvPr id="10" name="Picture 9" descr="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026" y="3429000"/>
            <a:ext cx="229602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5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l_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49" y="914400"/>
            <a:ext cx="3007150" cy="2011680"/>
          </a:xfrm>
          <a:prstGeom prst="rect">
            <a:avLst/>
          </a:prstGeom>
        </p:spPr>
      </p:pic>
      <p:pic>
        <p:nvPicPr>
          <p:cNvPr id="3" name="Picture 2" descr="oral_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3007150" cy="2011680"/>
          </a:xfrm>
          <a:prstGeom prst="rect">
            <a:avLst/>
          </a:prstGeom>
        </p:spPr>
      </p:pic>
      <p:pic>
        <p:nvPicPr>
          <p:cNvPr id="4" name="Picture 3" descr="oral_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4" y="2926080"/>
            <a:ext cx="3007150" cy="2011680"/>
          </a:xfrm>
          <a:prstGeom prst="rect">
            <a:avLst/>
          </a:prstGeom>
        </p:spPr>
      </p:pic>
      <p:pic>
        <p:nvPicPr>
          <p:cNvPr id="5" name="Picture 4" descr="oralPhoto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424" y="2926080"/>
            <a:ext cx="3007150" cy="2011680"/>
          </a:xfrm>
          <a:prstGeom prst="rect">
            <a:avLst/>
          </a:prstGeom>
        </p:spPr>
      </p:pic>
      <p:pic>
        <p:nvPicPr>
          <p:cNvPr id="6" name="Picture 5" descr="oral_defaul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575" y="2926080"/>
            <a:ext cx="300715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970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448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표"/>
          <p:cNvGraphicFramePr/>
          <p:nvPr/>
        </p:nvGraphicFramePr>
        <p:xfrm>
          <a:off x="55037" y="901375"/>
          <a:ext cx="9033929" cy="5146256"/>
        </p:xfrm>
        <a:graphic>
          <a:graphicData uri="http://schemas.openxmlformats.org/drawingml/2006/table">
            <a:tbl>
              <a:tblPr/>
              <a:tblGrid>
                <a:gridCol w="1475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581"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300"/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/>
                        <a:t>Photo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D5D5D5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/>
                        <a:t>Thermal infrared camera</a:t>
                      </a:r>
                    </a:p>
                  </a:txBody>
                  <a:tcPr marL="19050" marR="19050" marT="19050" marB="1905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solidFill>
                      <a:srgbClr val="BEC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291">
                <a:tc rowSpan="8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  <a:defRPr sz="2300" b="1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9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  </a:t>
                      </a: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Standing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D5D5D5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Mirror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D5D5D5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D5D5D5"/>
                      </a:solidFill>
                      <a:miter lim="400000"/>
                    </a:lnT>
                    <a:lnB w="3175">
                      <a:solidFill>
                        <a:srgbClr val="D5D5D5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1.Natural Leg 2.Natural foot 3.Natural one foot stance 
4.Positional foot 5.positional one foot stance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D5D5D5"/>
                      </a:solidFill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2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 &amp; Knee) 
3.Nuchal rotation 4,Head side bending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1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26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  <a:defRPr sz="2100"/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 </a:t>
                      </a:r>
                      <a:r>
                        <a:rPr sz="80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2.Crossing eye &amp; biting video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R>
                    <a:lnT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T>
                    <a:lnB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Lateral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60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  <a:defRPr sz="2100"/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 &amp; Knee</a:t>
                      </a:r>
                      <a:r>
                        <a:rPr sz="80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) 3.Crossing eye &amp; biting video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79">
                <a:tc rowSpan="4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  Foam mat  
       view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 &amp; Knee)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
2.Body side  bend bending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039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54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 rowSpan="6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 Seating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812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ankle)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81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472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28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Vertical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036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1.Scapular girdle rotation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261">
                <a:tc rowSpan="4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 On bed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86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1.Full body 2.Leg length 3.Leg ad &amp; abduction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961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862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1.Full body 2.Planta extension 3..Pelvic flare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텍스트"/>
          <p:cNvSpPr txBox="1"/>
          <p:nvPr/>
        </p:nvSpPr>
        <p:spPr>
          <a:xfrm>
            <a:off x="659255" y="1065423"/>
            <a:ext cx="38537" cy="176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defTabSz="4763">
              <a:tabLst>
                <a:tab pos="133350" algn="l"/>
                <a:tab pos="266700" algn="l"/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  <a:tab pos="1466850" algn="l"/>
                <a:tab pos="1600200" algn="l"/>
              </a:tabLst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450"/>
          </a:p>
          <a:p>
            <a:pPr defTabSz="4763">
              <a:tabLst>
                <a:tab pos="133350" algn="l"/>
                <a:tab pos="266700" algn="l"/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  <a:tab pos="1466850" algn="l"/>
                <a:tab pos="1600200" algn="l"/>
              </a:tabLst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450"/>
          </a:p>
        </p:txBody>
      </p:sp>
      <p:graphicFrame>
        <p:nvGraphicFramePr>
          <p:cNvPr id="152" name="표 1-1"/>
          <p:cNvGraphicFramePr/>
          <p:nvPr/>
        </p:nvGraphicFramePr>
        <p:xfrm>
          <a:off x="339795" y="989689"/>
          <a:ext cx="8464411" cy="4534723"/>
        </p:xfrm>
        <a:graphic>
          <a:graphicData uri="http://schemas.openxmlformats.org/drawingml/2006/table">
            <a:tbl>
              <a:tblPr/>
              <a:tblGrid>
                <a:gridCol w="330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829">
                <a:tc>
                  <a:txBody>
                    <a:bodyPr/>
                    <a:lstStyle/>
                    <a:p>
                      <a:pPr algn="l" defTabSz="914400"/>
                      <a:r>
                        <a:rPr sz="1600"/>
                        <a:t>Sit down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600"/>
                        <a:t>Lay down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600"/>
                        <a:t>Video</a:t>
                      </a: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829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Sitting flexion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 dirty="0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Calf tension test 
</a:t>
                      </a:r>
                      <a:r>
                        <a:rPr sz="900" i="1" dirty="0" err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후계혈</a:t>
                      </a:r>
                      <a:r>
                        <a:rPr sz="900" i="1" dirty="0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
</a:t>
                      </a:r>
                      <a:r>
                        <a:rPr sz="900" i="1" dirty="0" err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곤륜혈</a:t>
                      </a:r>
                      <a:endParaRPr sz="1100" i="1" dirty="0">
                        <a:latin typeface="Gill Sans SemiBold"/>
                        <a:ea typeface="Gill Sans SemiBold"/>
                        <a:cs typeface="Gill Sans SemiBold"/>
                        <a:sym typeface="Gill Sans SemiBold"/>
                      </a:endParaRP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Cyon test
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Bassani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Leg length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 dirty="0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Romberg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Rucklauf test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Scapular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Fukuda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Brugger test
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Pelvic thrust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Leg crossing Fukuda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Convergence test.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M-Faber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Head rotation Fukuda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Cover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Downing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Torsional body rotation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845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Dominant eye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Thomas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Barany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Head Impulse test(V-O reflex)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821531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Ober’s test (iliotibial band syndrome)
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42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defRPr>
                      </a:pPr>
                      <a:r>
                        <a:rPr lang="en-US" altLang="ko-KR" sz="1100" dirty="0"/>
                        <a:t>Nasal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inflation</a:t>
                      </a:r>
                    </a:p>
                    <a:p>
                      <a:pPr algn="l" defTabSz="914400">
                        <a:defRPr sz="42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defRPr>
                      </a:pPr>
                      <a:endParaRPr lang="en-US" sz="1100" dirty="0"/>
                    </a:p>
                    <a:p>
                      <a:pPr algn="l" defTabSz="914400">
                        <a:defRPr sz="42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defRPr>
                      </a:pPr>
                      <a:endParaRPr sz="1100" dirty="0"/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olution"/>
          <p:cNvSpPr txBox="1"/>
          <p:nvPr/>
        </p:nvSpPr>
        <p:spPr>
          <a:xfrm>
            <a:off x="428625" y="2214563"/>
            <a:ext cx="1176974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03212">
              <a:spcBef>
                <a:spcPts val="700"/>
              </a:spcBef>
              <a:defRPr sz="1200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Solution</a:t>
            </a:r>
          </a:p>
        </p:txBody>
      </p:sp>
      <p:sp>
        <p:nvSpPr>
          <p:cNvPr id="299" name="Retention…"/>
          <p:cNvSpPr txBox="1"/>
          <p:nvPr/>
        </p:nvSpPr>
        <p:spPr>
          <a:xfrm>
            <a:off x="804299" y="4263956"/>
            <a:ext cx="906017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03212">
              <a:spcBef>
                <a:spcPts val="700"/>
              </a:spcBef>
              <a:defRPr sz="9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Retention </a:t>
            </a:r>
          </a:p>
          <a:p>
            <a:pPr marL="342900" indent="-303212">
              <a:spcBef>
                <a:spcPts val="700"/>
              </a:spcBef>
              <a:defRPr sz="9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      Tooth Positioner</a:t>
            </a:r>
          </a:p>
        </p:txBody>
      </p:sp>
      <p:sp>
        <p:nvSpPr>
          <p:cNvPr id="300" name="After ORT…"/>
          <p:cNvSpPr txBox="1"/>
          <p:nvPr/>
        </p:nvSpPr>
        <p:spPr>
          <a:xfrm>
            <a:off x="800913" y="4905376"/>
            <a:ext cx="1423788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03212">
              <a:spcBef>
                <a:spcPts val="700"/>
              </a:spcBef>
              <a:defRPr sz="900" i="1">
                <a:solidFill>
                  <a:srgbClr val="002D9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After ORT</a:t>
            </a:r>
          </a:p>
          <a:p>
            <a:pPr marL="342900" indent="-303212">
              <a:spcBef>
                <a:spcPts val="700"/>
              </a:spcBef>
              <a:defRPr sz="9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    비발치 교정 시  Impt #35.</a:t>
            </a:r>
          </a:p>
        </p:txBody>
      </p:sp>
      <p:sp>
        <p:nvSpPr>
          <p:cNvPr id="301" name="ORT…"/>
          <p:cNvSpPr txBox="1"/>
          <p:nvPr/>
        </p:nvSpPr>
        <p:spPr>
          <a:xfrm>
            <a:off x="627018" y="2670934"/>
            <a:ext cx="2901633" cy="137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ORT 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1.비 발치 확장 교정 + 체형 교정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   A+ &amp; COPA FABS (STB)       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2..비발치 교정 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    FABS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3.발치교정    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표"/>
          <p:cNvGraphicFramePr>
            <a:graphicFrameLocks noGrp="1"/>
          </p:cNvGraphicFramePr>
          <p:nvPr/>
        </p:nvGraphicFramePr>
        <p:xfrm>
          <a:off x="6146166" y="5688060"/>
          <a:ext cx="1999615" cy="35687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249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 algn="l" defTabSz="91440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환자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본인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또는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보호자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                                                (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인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/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서명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)</a:t>
                      </a:r>
                      <a:endParaRPr kumimoji="0" lang="ko-KR" altLang="en-US" sz="900" b="0" i="0" strike="noStrike" kern="1200" cap="none" baseline="0" dirty="0">
                        <a:solidFill>
                          <a:schemeClr val="tx2">
                            <a:lumMod val="50000"/>
                          </a:schemeClr>
                        </a:solidFill>
                        <a:latin typeface="Times New Roman" charset="0"/>
                        <a:ea typeface="Times New Roman" charset="0"/>
                        <a:cs typeface="맑은 고딕" charset="0"/>
                      </a:endParaRPr>
                    </a:p>
                  </a:txBody>
                  <a:tcPr marL="12700" marR="12700" marT="12700" marB="12700">
                    <a:lnL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 dirty="0">
                        <a:solidFill>
                          <a:srgbClr val="3333CC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" marR="12700" marT="12700" marB="12700">
                    <a:lnL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5" name="1. 850-820   20 ~30mths       2.3 550 -520   26 ~30mths.           예측 기간은 순수한 예측이며 달라질 수 있음"/>
          <p:cNvSpPr txBox="1"/>
          <p:nvPr/>
        </p:nvSpPr>
        <p:spPr>
          <a:xfrm>
            <a:off x="434975" y="3166440"/>
            <a:ext cx="603377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p14="http://schemas.microsoft.com/office/powerpoint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 i="1"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1. 850-820   20 ~30mths       2.3 550 -520   26 ~30mths.          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예측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기간은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순수한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예측이며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달라질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수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있음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06" name="1,본인은 진료의 목적,성격,방법 과 그에 따른 문제점들에 대해 설명을 듣고 충분히 이해를 하였습니다.…"/>
          <p:cNvSpPr txBox="1"/>
          <p:nvPr/>
        </p:nvSpPr>
        <p:spPr>
          <a:xfrm>
            <a:off x="495433" y="4674917"/>
            <a:ext cx="6795135" cy="69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p14="http://schemas.microsoft.com/office/powerpoint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1,본인은 </a:t>
            </a:r>
            <a:r>
              <a:rPr sz="900" dirty="0" err="1"/>
              <a:t>진료의</a:t>
            </a:r>
            <a:r>
              <a:rPr sz="900" dirty="0"/>
              <a:t> </a:t>
            </a:r>
            <a:r>
              <a:rPr sz="900" dirty="0" err="1"/>
              <a:t>목적,성격,방법</a:t>
            </a:r>
            <a:r>
              <a:rPr sz="900" dirty="0"/>
              <a:t> 과 </a:t>
            </a:r>
            <a:r>
              <a:rPr sz="900" dirty="0" err="1"/>
              <a:t>그에</a:t>
            </a:r>
            <a:r>
              <a:rPr sz="900" dirty="0"/>
              <a:t> </a:t>
            </a:r>
            <a:r>
              <a:rPr sz="900" dirty="0" err="1"/>
              <a:t>따른</a:t>
            </a:r>
            <a:r>
              <a:rPr sz="900" dirty="0"/>
              <a:t> </a:t>
            </a:r>
            <a:r>
              <a:rPr sz="900" dirty="0" err="1"/>
              <a:t>문제점들에</a:t>
            </a:r>
            <a:r>
              <a:rPr sz="900" dirty="0"/>
              <a:t> </a:t>
            </a:r>
            <a:r>
              <a:rPr sz="900" dirty="0" err="1"/>
              <a:t>대해</a:t>
            </a:r>
            <a:r>
              <a:rPr sz="900" dirty="0"/>
              <a:t> </a:t>
            </a:r>
            <a:r>
              <a:rPr sz="900" dirty="0" err="1"/>
              <a:t>설명을</a:t>
            </a:r>
            <a:r>
              <a:rPr sz="900" dirty="0"/>
              <a:t> </a:t>
            </a:r>
            <a:r>
              <a:rPr sz="900" dirty="0" err="1"/>
              <a:t>듣고</a:t>
            </a:r>
            <a:r>
              <a:rPr sz="900" dirty="0"/>
              <a:t> </a:t>
            </a:r>
            <a:r>
              <a:rPr sz="900" dirty="0" err="1"/>
              <a:t>충분히</a:t>
            </a:r>
            <a:r>
              <a:rPr sz="900" dirty="0"/>
              <a:t> </a:t>
            </a:r>
            <a:r>
              <a:rPr sz="900" dirty="0" err="1"/>
              <a:t>이해를</a:t>
            </a:r>
            <a:r>
              <a:rPr sz="900" dirty="0"/>
              <a:t> </a:t>
            </a:r>
            <a:r>
              <a:rPr sz="900" dirty="0" err="1"/>
              <a:t>하였습니다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2,본의의 </a:t>
            </a:r>
            <a:r>
              <a:rPr sz="900" dirty="0" err="1"/>
              <a:t>협조가</a:t>
            </a:r>
            <a:r>
              <a:rPr sz="900" dirty="0"/>
              <a:t> </a:t>
            </a:r>
            <a:r>
              <a:rPr sz="900" dirty="0" err="1"/>
              <a:t>부족</a:t>
            </a:r>
            <a:r>
              <a:rPr sz="900" dirty="0"/>
              <a:t> 할 때 </a:t>
            </a:r>
            <a:r>
              <a:rPr sz="900" dirty="0" err="1"/>
              <a:t>치료결과가</a:t>
            </a:r>
            <a:r>
              <a:rPr sz="900" dirty="0"/>
              <a:t> </a:t>
            </a:r>
            <a:r>
              <a:rPr sz="900" dirty="0" err="1"/>
              <a:t>달라질</a:t>
            </a:r>
            <a:r>
              <a:rPr sz="900" dirty="0"/>
              <a:t> 수 </a:t>
            </a:r>
            <a:r>
              <a:rPr sz="900" dirty="0" err="1"/>
              <a:t>있으며</a:t>
            </a:r>
            <a:r>
              <a:rPr sz="900" dirty="0"/>
              <a:t> </a:t>
            </a:r>
            <a:r>
              <a:rPr sz="900" dirty="0" err="1"/>
              <a:t>처음</a:t>
            </a:r>
            <a:r>
              <a:rPr sz="900" dirty="0"/>
              <a:t> </a:t>
            </a:r>
            <a:r>
              <a:rPr sz="900" dirty="0" err="1"/>
              <a:t>계획한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결과를</a:t>
            </a:r>
            <a:r>
              <a:rPr sz="900" dirty="0"/>
              <a:t> </a:t>
            </a:r>
            <a:r>
              <a:rPr sz="900" dirty="0" err="1"/>
              <a:t>얻지</a:t>
            </a:r>
            <a:r>
              <a:rPr sz="900" dirty="0"/>
              <a:t> </a:t>
            </a:r>
            <a:r>
              <a:rPr sz="900" dirty="0" err="1"/>
              <a:t>못할</a:t>
            </a:r>
            <a:r>
              <a:rPr sz="900" dirty="0"/>
              <a:t> 수 </a:t>
            </a:r>
            <a:r>
              <a:rPr sz="900" dirty="0" err="1"/>
              <a:t>있다는</a:t>
            </a:r>
            <a:r>
              <a:rPr sz="900" dirty="0"/>
              <a:t> </a:t>
            </a:r>
            <a:r>
              <a:rPr sz="900" dirty="0" err="1"/>
              <a:t>것을</a:t>
            </a:r>
            <a:r>
              <a:rPr sz="900" dirty="0"/>
              <a:t> </a:t>
            </a:r>
            <a:r>
              <a:rPr sz="900" dirty="0" err="1"/>
              <a:t>이해</a:t>
            </a:r>
            <a:r>
              <a:rPr sz="900" dirty="0"/>
              <a:t> </a:t>
            </a:r>
            <a:r>
              <a:rPr sz="900" dirty="0" err="1"/>
              <a:t>합니다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3,본인은 </a:t>
            </a:r>
            <a:r>
              <a:rPr sz="900" dirty="0" err="1"/>
              <a:t>선생님의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진료에</a:t>
            </a:r>
            <a:r>
              <a:rPr sz="900" dirty="0"/>
              <a:t> </a:t>
            </a:r>
            <a:r>
              <a:rPr sz="900" dirty="0" err="1"/>
              <a:t>적극</a:t>
            </a:r>
            <a:r>
              <a:rPr sz="900" dirty="0"/>
              <a:t> </a:t>
            </a:r>
            <a:r>
              <a:rPr sz="900" dirty="0" err="1"/>
              <a:t>협조</a:t>
            </a:r>
            <a:r>
              <a:rPr sz="900" dirty="0"/>
              <a:t> 할 </a:t>
            </a:r>
            <a:r>
              <a:rPr sz="900" dirty="0" err="1"/>
              <a:t>것이며</a:t>
            </a:r>
            <a:r>
              <a:rPr sz="900" dirty="0"/>
              <a:t> </a:t>
            </a:r>
            <a:r>
              <a:rPr sz="900" dirty="0" err="1"/>
              <a:t>약속</a:t>
            </a:r>
            <a:r>
              <a:rPr sz="900" dirty="0"/>
              <a:t> </a:t>
            </a:r>
            <a:r>
              <a:rPr sz="900" dirty="0" err="1"/>
              <a:t>시간을</a:t>
            </a:r>
            <a:r>
              <a:rPr sz="900" dirty="0"/>
              <a:t> </a:t>
            </a:r>
            <a:r>
              <a:rPr sz="900" dirty="0" err="1"/>
              <a:t>충실히</a:t>
            </a:r>
            <a:r>
              <a:rPr sz="900" dirty="0"/>
              <a:t> </a:t>
            </a:r>
            <a:r>
              <a:rPr sz="900" dirty="0" err="1"/>
              <a:t>지키겠습니다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4,치료 중 </a:t>
            </a:r>
            <a:r>
              <a:rPr sz="900" dirty="0" err="1"/>
              <a:t>특별한</a:t>
            </a:r>
            <a:r>
              <a:rPr sz="900" dirty="0"/>
              <a:t> </a:t>
            </a:r>
            <a:r>
              <a:rPr sz="900" dirty="0" err="1"/>
              <a:t>사항이</a:t>
            </a:r>
            <a:r>
              <a:rPr sz="900" dirty="0"/>
              <a:t> </a:t>
            </a:r>
            <a:r>
              <a:rPr sz="900" dirty="0" err="1"/>
              <a:t>발생시</a:t>
            </a:r>
            <a:r>
              <a:rPr sz="900" dirty="0"/>
              <a:t> </a:t>
            </a:r>
            <a:r>
              <a:rPr sz="900" dirty="0" err="1"/>
              <a:t>즉시</a:t>
            </a:r>
            <a:r>
              <a:rPr sz="900" dirty="0"/>
              <a:t> </a:t>
            </a:r>
            <a:r>
              <a:rPr sz="900" dirty="0" err="1"/>
              <a:t>알려</a:t>
            </a:r>
            <a:r>
              <a:rPr sz="900" dirty="0"/>
              <a:t> </a:t>
            </a:r>
            <a:r>
              <a:rPr sz="900" dirty="0" err="1"/>
              <a:t>드리겠습니다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5,불가항력적인 </a:t>
            </a:r>
            <a:r>
              <a:rPr sz="900" dirty="0" err="1"/>
              <a:t>사항이</a:t>
            </a:r>
            <a:r>
              <a:rPr sz="900" dirty="0"/>
              <a:t> </a:t>
            </a:r>
            <a:r>
              <a:rPr sz="900" dirty="0" err="1"/>
              <a:t>발생시</a:t>
            </a:r>
            <a:r>
              <a:rPr sz="900" dirty="0"/>
              <a:t> </a:t>
            </a:r>
            <a:r>
              <a:rPr sz="900" dirty="0" err="1"/>
              <a:t>진료</a:t>
            </a:r>
            <a:r>
              <a:rPr sz="900" dirty="0"/>
              <a:t> </a:t>
            </a:r>
            <a:r>
              <a:rPr sz="900" dirty="0" err="1"/>
              <a:t>변경에</a:t>
            </a:r>
            <a:r>
              <a:rPr sz="900" dirty="0"/>
              <a:t> </a:t>
            </a:r>
            <a:r>
              <a:rPr sz="900" dirty="0" err="1"/>
              <a:t>대해</a:t>
            </a:r>
            <a:r>
              <a:rPr sz="900" dirty="0"/>
              <a:t> </a:t>
            </a:r>
            <a:r>
              <a:rPr sz="900" dirty="0" err="1"/>
              <a:t>위임</a:t>
            </a:r>
            <a:r>
              <a:rPr sz="900" dirty="0"/>
              <a:t> </a:t>
            </a:r>
            <a:r>
              <a:rPr sz="900" dirty="0" err="1"/>
              <a:t>합니다</a:t>
            </a:r>
            <a:r>
              <a:rPr sz="900" dirty="0">
                <a:solidFill>
                  <a:srgbClr val="3333CC"/>
                </a:solidFill>
              </a:rPr>
              <a:t>.                 </a:t>
            </a:r>
          </a:p>
        </p:txBody>
      </p:sp>
      <p:sp>
        <p:nvSpPr>
          <p:cNvPr id="307" name="동의 사항"/>
          <p:cNvSpPr txBox="1"/>
          <p:nvPr/>
        </p:nvSpPr>
        <p:spPr>
          <a:xfrm>
            <a:off x="619761" y="778510"/>
            <a:ext cx="1113123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p14="http://schemas.microsoft.com/office/powerpoint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indent="39687">
              <a:defRPr>
                <a:solidFill>
                  <a:srgbClr val="660033"/>
                </a:solidFill>
              </a:defRPr>
            </a:pPr>
            <a:r>
              <a:t>동의</a:t>
            </a:r>
            <a:r>
              <a:rPr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t>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F1456-29A9-72AE-0AB3-A4441EE4001C}"/>
              </a:ext>
            </a:extLst>
          </p:cNvPr>
          <p:cNvSpPr txBox="1"/>
          <p:nvPr/>
        </p:nvSpPr>
        <p:spPr>
          <a:xfrm>
            <a:off x="434976" y="3639820"/>
            <a:ext cx="8371205" cy="784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교정 장치의 파손 분실의 경우 재 제작에 필요한 최소 비용은 부담 하셔야 합니다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.</a:t>
            </a:r>
          </a:p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본원에서는 교정에 필요한 비용만이 치료 비용에 산정 되었으며 다른 치료 비용은 포함 되어 있지 않습니다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.(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충치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발치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보철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ko-KR" altLang="en-US" sz="900" dirty="0" err="1">
                <a:solidFill>
                  <a:schemeClr val="tx2">
                    <a:lumMod val="50000"/>
                  </a:schemeClr>
                </a:solidFill>
              </a:rPr>
              <a:t>스케일링등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…)</a:t>
            </a:r>
          </a:p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동적 치료 완료 후에 상하 전치 부위의 약간의 </a:t>
            </a:r>
            <a:r>
              <a:rPr lang="ko-KR" altLang="en-US" sz="900" dirty="0" err="1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뒤를림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 같은 자연적인 치아 이동은 사람이 살아 있는 한 영구적으로 차단 할 수 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없으며 자연 현상으로 받아 들여야 합니다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그러나 불성실한 유지 장치 착용에 의한 부정 교합의 재발에 따른 재 교정 치료는 본인이 모든 제반 비용을 추가로 부담 하시게 됩니다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.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 xmlns:m="http://schemas.openxmlformats.org/officeDocument/2006/math" xmlns:a14="http://schemas.microsoft.com/office/drawing/2010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환자     성함                             사인…"/>
          <p:cNvSpPr txBox="1"/>
          <p:nvPr/>
        </p:nvSpPr>
        <p:spPr>
          <a:xfrm>
            <a:off x="6929437" y="5786437"/>
            <a:ext cx="2131062" cy="310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환자</a:t>
            </a:r>
            <a:r>
              <a:rPr sz="1000"/>
              <a:t>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보호자</a:t>
            </a:r>
            <a:r>
              <a:rPr sz="1000"/>
              <a:t>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</p:txBody>
      </p:sp>
      <p:sp>
        <p:nvSpPr>
          <p:cNvPr id="310" name="ㅁ, 술 후 치은 퇴축 형성 부위.. 치아를 품고 있는 치조골의 손실에 의해 치아의 뿌리가 노출 될 수 있습니다. 상하악 전치 부위…"/>
          <p:cNvSpPr txBox="1"/>
          <p:nvPr/>
        </p:nvSpPr>
        <p:spPr>
          <a:xfrm>
            <a:off x="161179" y="768281"/>
            <a:ext cx="8899321" cy="5591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lang="ko-KR" altLang="en-US" sz="900" dirty="0" err="1"/>
              <a:t>ㅁ</a:t>
            </a:r>
            <a:r>
              <a:rPr lang="en-US" altLang="ko-KR" sz="900" dirty="0"/>
              <a:t>, </a:t>
            </a:r>
            <a:r>
              <a:rPr lang="ko-KR" altLang="en-US" sz="900" dirty="0"/>
              <a:t>환지 분은 치열 </a:t>
            </a:r>
            <a:r>
              <a:rPr lang="ko-KR" altLang="en-US" sz="900" dirty="0" err="1"/>
              <a:t>교정외에</a:t>
            </a:r>
            <a:r>
              <a:rPr lang="ko-KR" altLang="en-US" sz="900" dirty="0"/>
              <a:t> 향후 수술을 피하기 위한  턱교정과 더불어 호흡의 불안정</a:t>
            </a:r>
            <a:r>
              <a:rPr lang="en-US" altLang="ko-KR" sz="900" dirty="0"/>
              <a:t>(</a:t>
            </a:r>
            <a:r>
              <a:rPr lang="ko-KR" altLang="en-US" sz="900" dirty="0"/>
              <a:t>비염 </a:t>
            </a:r>
            <a:r>
              <a:rPr lang="en-US" altLang="ko-KR" sz="900" dirty="0"/>
              <a:t>,</a:t>
            </a:r>
            <a:r>
              <a:rPr lang="ko-KR" altLang="en-US" sz="900" dirty="0" err="1"/>
              <a:t>부비동염</a:t>
            </a:r>
            <a:r>
              <a:rPr lang="en-US" altLang="ko-KR" sz="900" dirty="0"/>
              <a:t>, </a:t>
            </a:r>
            <a:r>
              <a:rPr lang="ko-KR" altLang="en-US" sz="900" dirty="0"/>
              <a:t>하 </a:t>
            </a:r>
            <a:r>
              <a:rPr lang="ko-KR" altLang="en-US" sz="900" dirty="0" err="1"/>
              <a:t>비중격</a:t>
            </a:r>
            <a:r>
              <a:rPr lang="ko-KR" altLang="en-US" sz="900" dirty="0"/>
              <a:t> </a:t>
            </a:r>
            <a:r>
              <a:rPr lang="ko-KR" altLang="en-US" sz="900" dirty="0" err="1"/>
              <a:t>만곡등</a:t>
            </a:r>
            <a:r>
              <a:rPr lang="en-US" altLang="ko-KR" sz="900" dirty="0"/>
              <a:t>) </a:t>
            </a:r>
            <a:r>
              <a:rPr lang="ko-KR" altLang="en-US" sz="900" dirty="0"/>
              <a:t>개선과 저작 연하 기능 저하를 정상화 시키기 위한  </a:t>
            </a:r>
            <a:endParaRPr lang="en-US" altLang="ko-KR"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lang="en-US" altLang="ko-KR" sz="900" dirty="0"/>
              <a:t>        </a:t>
            </a:r>
            <a:r>
              <a:rPr lang="ko-KR" altLang="en-US" sz="900" dirty="0"/>
              <a:t>기능 교정이 시행되며 또한 체위의 불안정 개선을 위한 체형과 자세 안정 교정도 받게 됩니다</a:t>
            </a:r>
            <a:r>
              <a:rPr lang="en-US" altLang="ko-KR" sz="900" dirty="0"/>
              <a:t>. </a:t>
            </a:r>
            <a:r>
              <a:rPr lang="ko-KR" altLang="en-US" sz="900" dirty="0"/>
              <a:t>이러한 부가적인 치료는 본원에서만 시행하는 특수 진료임에 신뢰와 더불어  </a:t>
            </a:r>
            <a:endParaRPr lang="en-US" altLang="ko-KR"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lang="en-US" altLang="ko-KR" sz="900" dirty="0"/>
              <a:t>        </a:t>
            </a:r>
            <a:r>
              <a:rPr lang="ko-KR" altLang="en-US" sz="900" dirty="0"/>
              <a:t>적극적인 협조로 성실히 따라 주셔야 가능합니다</a:t>
            </a:r>
            <a:r>
              <a:rPr lang="en-US" altLang="ko-KR"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치은</a:t>
            </a:r>
            <a:r>
              <a:rPr sz="900" dirty="0"/>
              <a:t> </a:t>
            </a:r>
            <a:r>
              <a:rPr sz="900" dirty="0" err="1"/>
              <a:t>퇴축</a:t>
            </a:r>
            <a:r>
              <a:rPr sz="900" dirty="0"/>
              <a:t> </a:t>
            </a:r>
            <a:r>
              <a:rPr sz="900" dirty="0" err="1"/>
              <a:t>형성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.. </a:t>
            </a:r>
            <a:r>
              <a:rPr sz="900" dirty="0" err="1"/>
              <a:t>치아를</a:t>
            </a:r>
            <a:r>
              <a:rPr sz="900" dirty="0"/>
              <a:t> </a:t>
            </a:r>
            <a:r>
              <a:rPr sz="900" dirty="0" err="1"/>
              <a:t>품고</a:t>
            </a:r>
            <a:r>
              <a:rPr sz="900" dirty="0"/>
              <a:t> </a:t>
            </a:r>
            <a:r>
              <a:rPr sz="900" dirty="0" err="1"/>
              <a:t>있는</a:t>
            </a:r>
            <a:r>
              <a:rPr sz="900" dirty="0"/>
              <a:t> </a:t>
            </a:r>
            <a:r>
              <a:rPr sz="900" dirty="0" err="1"/>
              <a:t>치조골의</a:t>
            </a:r>
            <a:r>
              <a:rPr sz="900" dirty="0"/>
              <a:t> </a:t>
            </a:r>
            <a:r>
              <a:rPr sz="900" dirty="0" err="1"/>
              <a:t>손실에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뿌리가</a:t>
            </a:r>
            <a:r>
              <a:rPr sz="900" dirty="0"/>
              <a:t> </a:t>
            </a:r>
            <a:r>
              <a:rPr sz="900" dirty="0" err="1"/>
              <a:t>노출</a:t>
            </a:r>
            <a:r>
              <a:rPr sz="900" dirty="0"/>
              <a:t> 될 수 </a:t>
            </a:r>
            <a:r>
              <a:rPr sz="900" dirty="0" err="1"/>
              <a:t>있습니다</a:t>
            </a:r>
            <a:r>
              <a:rPr sz="900" dirty="0"/>
              <a:t>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발치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 </a:t>
            </a:r>
            <a:r>
              <a:rPr sz="900" dirty="0" err="1"/>
              <a:t>치간</a:t>
            </a:r>
            <a:r>
              <a:rPr sz="900" dirty="0"/>
              <a:t> </a:t>
            </a:r>
            <a:r>
              <a:rPr sz="900" dirty="0" err="1"/>
              <a:t>사이</a:t>
            </a:r>
            <a:r>
              <a:rPr sz="900" dirty="0"/>
              <a:t> </a:t>
            </a:r>
            <a:r>
              <a:rPr sz="900" dirty="0" err="1"/>
              <a:t>공간</a:t>
            </a:r>
            <a:r>
              <a:rPr sz="900" dirty="0"/>
              <a:t> </a:t>
            </a:r>
            <a:r>
              <a:rPr sz="900" dirty="0" err="1"/>
              <a:t>존재</a:t>
            </a:r>
            <a:r>
              <a:rPr sz="900" dirty="0"/>
              <a:t> </a:t>
            </a:r>
            <a:r>
              <a:rPr sz="900" dirty="0" err="1"/>
              <a:t>예상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 …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성인의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 연 </a:t>
            </a:r>
            <a:r>
              <a:rPr sz="900" dirty="0" err="1"/>
              <a:t>조직</a:t>
            </a:r>
            <a:r>
              <a:rPr sz="900" dirty="0"/>
              <a:t> </a:t>
            </a:r>
            <a:r>
              <a:rPr sz="900" dirty="0" err="1"/>
              <a:t>형성이</a:t>
            </a:r>
            <a:r>
              <a:rPr sz="900" dirty="0"/>
              <a:t> </a:t>
            </a:r>
            <a:r>
              <a:rPr sz="900" dirty="0" err="1"/>
              <a:t>골조직</a:t>
            </a:r>
            <a:r>
              <a:rPr sz="900" dirty="0"/>
              <a:t> </a:t>
            </a:r>
            <a:r>
              <a:rPr sz="900" dirty="0" err="1"/>
              <a:t>보다</a:t>
            </a:r>
            <a:r>
              <a:rPr sz="900" dirty="0"/>
              <a:t> </a:t>
            </a:r>
            <a:r>
              <a:rPr sz="900" dirty="0" err="1"/>
              <a:t>우선</a:t>
            </a:r>
            <a:r>
              <a:rPr sz="900" dirty="0"/>
              <a:t> </a:t>
            </a:r>
            <a:r>
              <a:rPr sz="900" dirty="0" err="1"/>
              <a:t>성장</a:t>
            </a:r>
            <a:r>
              <a:rPr sz="900" dirty="0"/>
              <a:t> </a:t>
            </a:r>
            <a:r>
              <a:rPr sz="900" dirty="0" err="1"/>
              <a:t>하여</a:t>
            </a:r>
            <a:r>
              <a:rPr sz="900" dirty="0"/>
              <a:t>   </a:t>
            </a:r>
            <a:r>
              <a:rPr sz="900" dirty="0" err="1"/>
              <a:t>발치부위</a:t>
            </a:r>
            <a:r>
              <a:rPr sz="900" dirty="0"/>
              <a:t> </a:t>
            </a:r>
            <a:r>
              <a:rPr sz="900" dirty="0" err="1"/>
              <a:t>공간에</a:t>
            </a:r>
            <a:r>
              <a:rPr sz="900" dirty="0"/>
              <a:t> 연 </a:t>
            </a:r>
            <a:r>
              <a:rPr sz="900" dirty="0" err="1"/>
              <a:t>조직이</a:t>
            </a:r>
            <a:r>
              <a:rPr sz="900" dirty="0"/>
              <a:t>  </a:t>
            </a:r>
            <a:r>
              <a:rPr sz="900" dirty="0" err="1"/>
              <a:t>먼저</a:t>
            </a:r>
            <a:r>
              <a:rPr sz="900" dirty="0"/>
              <a:t> </a:t>
            </a:r>
            <a:r>
              <a:rPr sz="900" dirty="0" err="1"/>
              <a:t>차면서</a:t>
            </a:r>
            <a:r>
              <a:rPr sz="900" dirty="0"/>
              <a:t>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그 </a:t>
            </a:r>
            <a:r>
              <a:rPr sz="900" dirty="0" err="1"/>
              <a:t>탄성에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 </a:t>
            </a:r>
            <a:r>
              <a:rPr sz="900" dirty="0" err="1"/>
              <a:t>주위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간의</a:t>
            </a:r>
            <a:r>
              <a:rPr sz="900" dirty="0"/>
              <a:t>  </a:t>
            </a:r>
            <a:r>
              <a:rPr sz="900" dirty="0" err="1"/>
              <a:t>간격이</a:t>
            </a:r>
            <a:r>
              <a:rPr sz="900" dirty="0"/>
              <a:t> </a:t>
            </a:r>
            <a:r>
              <a:rPr sz="900" dirty="0" err="1"/>
              <a:t>밀착되지</a:t>
            </a:r>
            <a:r>
              <a:rPr sz="900" dirty="0"/>
              <a:t>  </a:t>
            </a:r>
            <a:r>
              <a:rPr sz="900" dirty="0" err="1"/>
              <a:t>않게</a:t>
            </a:r>
            <a:r>
              <a:rPr sz="900" dirty="0"/>
              <a:t> </a:t>
            </a:r>
            <a:r>
              <a:rPr sz="900" dirty="0" err="1"/>
              <a:t>됩니다</a:t>
            </a:r>
            <a:r>
              <a:rPr sz="900" dirty="0"/>
              <a:t>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ㅁ, </a:t>
            </a:r>
            <a:r>
              <a:rPr sz="900" dirty="0" err="1"/>
              <a:t>겹친</a:t>
            </a:r>
            <a:r>
              <a:rPr sz="900" dirty="0"/>
              <a:t> </a:t>
            </a:r>
            <a:r>
              <a:rPr sz="900" dirty="0" err="1"/>
              <a:t>부위의</a:t>
            </a:r>
            <a:r>
              <a:rPr sz="900" dirty="0"/>
              <a:t> </a:t>
            </a:r>
            <a:r>
              <a:rPr sz="900" dirty="0" err="1"/>
              <a:t>치아가</a:t>
            </a:r>
            <a:r>
              <a:rPr sz="900" dirty="0"/>
              <a:t> </a:t>
            </a:r>
            <a:r>
              <a:rPr sz="900" dirty="0" err="1"/>
              <a:t>펴지면서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사이에</a:t>
            </a:r>
            <a:r>
              <a:rPr sz="900" dirty="0"/>
              <a:t> </a:t>
            </a:r>
            <a:r>
              <a:rPr sz="900" dirty="0" err="1"/>
              <a:t>공간이</a:t>
            </a:r>
            <a:r>
              <a:rPr sz="900" dirty="0"/>
              <a:t>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있습니다</a:t>
            </a:r>
            <a:r>
              <a:rPr sz="900" dirty="0"/>
              <a:t>. 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성인의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</a:t>
            </a:r>
            <a:r>
              <a:rPr sz="900" dirty="0" err="1"/>
              <a:t>겹친</a:t>
            </a:r>
            <a:r>
              <a:rPr sz="900" dirty="0"/>
              <a:t> </a:t>
            </a:r>
            <a:r>
              <a:rPr sz="900" dirty="0" err="1"/>
              <a:t>부위에</a:t>
            </a:r>
            <a:r>
              <a:rPr sz="900" dirty="0"/>
              <a:t> </a:t>
            </a:r>
            <a:r>
              <a:rPr sz="900" dirty="0" err="1"/>
              <a:t>골조직이</a:t>
            </a:r>
            <a:r>
              <a:rPr sz="900" dirty="0"/>
              <a:t> </a:t>
            </a:r>
            <a:r>
              <a:rPr sz="900" dirty="0" err="1"/>
              <a:t>소실</a:t>
            </a:r>
            <a:r>
              <a:rPr sz="900" dirty="0"/>
              <a:t> </a:t>
            </a:r>
            <a:r>
              <a:rPr sz="900" dirty="0" err="1"/>
              <a:t>되어</a:t>
            </a:r>
            <a:r>
              <a:rPr sz="900" dirty="0"/>
              <a:t> </a:t>
            </a:r>
            <a:r>
              <a:rPr sz="900" dirty="0" err="1"/>
              <a:t>있어</a:t>
            </a:r>
            <a:r>
              <a:rPr sz="900" dirty="0"/>
              <a:t> </a:t>
            </a:r>
            <a:r>
              <a:rPr sz="900" dirty="0" err="1"/>
              <a:t>겹친</a:t>
            </a:r>
            <a:r>
              <a:rPr sz="900" dirty="0"/>
              <a:t> </a:t>
            </a:r>
            <a:r>
              <a:rPr sz="900" dirty="0" err="1"/>
              <a:t>부위가</a:t>
            </a:r>
            <a:r>
              <a:rPr sz="900" dirty="0"/>
              <a:t> </a:t>
            </a:r>
            <a:r>
              <a:rPr sz="900" dirty="0" err="1"/>
              <a:t>펴지면</a:t>
            </a:r>
            <a:r>
              <a:rPr sz="900" dirty="0"/>
              <a:t> </a:t>
            </a:r>
            <a:r>
              <a:rPr sz="900" dirty="0" err="1"/>
              <a:t>골조직의</a:t>
            </a:r>
            <a:r>
              <a:rPr sz="900" dirty="0"/>
              <a:t> </a:t>
            </a:r>
            <a:r>
              <a:rPr sz="900" dirty="0" err="1"/>
              <a:t>높이에</a:t>
            </a:r>
            <a:r>
              <a:rPr sz="900" dirty="0"/>
              <a:t> </a:t>
            </a:r>
            <a:r>
              <a:rPr sz="900" dirty="0" err="1"/>
              <a:t>따라</a:t>
            </a:r>
            <a:r>
              <a:rPr sz="900" dirty="0"/>
              <a:t> </a:t>
            </a:r>
            <a:r>
              <a:rPr sz="900" dirty="0" err="1"/>
              <a:t>치간</a:t>
            </a:r>
            <a:r>
              <a:rPr sz="900" dirty="0"/>
              <a:t> </a:t>
            </a:r>
            <a:r>
              <a:rPr sz="900" dirty="0" err="1"/>
              <a:t>사이</a:t>
            </a:r>
            <a:r>
              <a:rPr sz="900" dirty="0"/>
              <a:t> </a:t>
            </a:r>
            <a:r>
              <a:rPr sz="900" dirty="0" err="1"/>
              <a:t>잇몸이</a:t>
            </a:r>
            <a:r>
              <a:rPr sz="900" dirty="0"/>
              <a:t> </a:t>
            </a:r>
            <a:r>
              <a:rPr sz="900" dirty="0" err="1"/>
              <a:t>소실</a:t>
            </a:r>
            <a:r>
              <a:rPr sz="900" dirty="0"/>
              <a:t> 된 것 </a:t>
            </a:r>
            <a:r>
              <a:rPr sz="900" dirty="0" err="1"/>
              <a:t>같은</a:t>
            </a:r>
            <a:r>
              <a:rPr sz="900" dirty="0"/>
              <a:t>  </a:t>
            </a:r>
            <a:r>
              <a:rPr sz="900" dirty="0" err="1"/>
              <a:t>공간이</a:t>
            </a:r>
            <a:r>
              <a:rPr sz="900" dirty="0"/>
              <a:t> </a:t>
            </a:r>
            <a:r>
              <a:rPr sz="900" dirty="0" err="1"/>
              <a:t>형성</a:t>
            </a:r>
            <a:r>
              <a:rPr sz="900" dirty="0"/>
              <a:t> </a:t>
            </a:r>
            <a:r>
              <a:rPr sz="900" dirty="0" err="1"/>
              <a:t>됩니다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전 </a:t>
            </a:r>
            <a:r>
              <a:rPr sz="900" dirty="0" err="1"/>
              <a:t>치근</a:t>
            </a:r>
            <a:r>
              <a:rPr sz="900" dirty="0"/>
              <a:t> 흡 수 </a:t>
            </a:r>
            <a:r>
              <a:rPr sz="900" dirty="0" err="1"/>
              <a:t>부위</a:t>
            </a:r>
            <a:r>
              <a:rPr sz="900" dirty="0"/>
              <a:t>..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뿌리의</a:t>
            </a:r>
            <a:r>
              <a:rPr sz="900" dirty="0"/>
              <a:t> </a:t>
            </a:r>
            <a:r>
              <a:rPr sz="900" dirty="0" err="1"/>
              <a:t>길이가</a:t>
            </a:r>
            <a:r>
              <a:rPr sz="900" dirty="0"/>
              <a:t>  </a:t>
            </a:r>
            <a:r>
              <a:rPr sz="900" dirty="0" err="1"/>
              <a:t>비정상</a:t>
            </a:r>
            <a:r>
              <a:rPr sz="900" dirty="0"/>
              <a:t> </a:t>
            </a:r>
            <a:r>
              <a:rPr sz="900" dirty="0" err="1"/>
              <a:t>적으로</a:t>
            </a:r>
            <a:r>
              <a:rPr sz="900" dirty="0"/>
              <a:t>  </a:t>
            </a:r>
            <a:r>
              <a:rPr sz="900" dirty="0" err="1"/>
              <a:t>짧거나</a:t>
            </a:r>
            <a:r>
              <a:rPr sz="900" dirty="0"/>
              <a:t> </a:t>
            </a:r>
            <a:r>
              <a:rPr sz="900" dirty="0" err="1"/>
              <a:t>형태가</a:t>
            </a:r>
            <a:r>
              <a:rPr sz="900" dirty="0"/>
              <a:t>  비 </a:t>
            </a:r>
            <a:r>
              <a:rPr sz="900" dirty="0" err="1"/>
              <a:t>정상입니다</a:t>
            </a:r>
            <a:r>
              <a:rPr sz="900" dirty="0"/>
              <a:t>. 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치근</a:t>
            </a:r>
            <a:r>
              <a:rPr sz="900" dirty="0"/>
              <a:t> </a:t>
            </a:r>
            <a:r>
              <a:rPr sz="900" dirty="0" err="1"/>
              <a:t>흡수</a:t>
            </a:r>
            <a:r>
              <a:rPr sz="900" dirty="0"/>
              <a:t> </a:t>
            </a:r>
            <a:r>
              <a:rPr sz="900" dirty="0" err="1"/>
              <a:t>예상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 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형태</a:t>
            </a:r>
            <a:r>
              <a:rPr sz="900" dirty="0"/>
              <a:t> </a:t>
            </a:r>
            <a:r>
              <a:rPr sz="900" dirty="0" err="1"/>
              <a:t>길이의</a:t>
            </a:r>
            <a:r>
              <a:rPr sz="900" dirty="0"/>
              <a:t> </a:t>
            </a:r>
            <a:r>
              <a:rPr sz="900" dirty="0" err="1"/>
              <a:t>비정상이나</a:t>
            </a:r>
            <a:r>
              <a:rPr sz="900" dirty="0"/>
              <a:t> </a:t>
            </a:r>
            <a:r>
              <a:rPr sz="900" dirty="0" err="1"/>
              <a:t>이전에</a:t>
            </a:r>
            <a:r>
              <a:rPr sz="900" dirty="0"/>
              <a:t> </a:t>
            </a:r>
            <a:r>
              <a:rPr sz="900" dirty="0" err="1"/>
              <a:t>받았던</a:t>
            </a:r>
            <a:r>
              <a:rPr sz="900" dirty="0"/>
              <a:t> </a:t>
            </a:r>
            <a:r>
              <a:rPr sz="900" dirty="0" err="1"/>
              <a:t>무의식적인</a:t>
            </a:r>
            <a:r>
              <a:rPr sz="900" dirty="0"/>
              <a:t> </a:t>
            </a:r>
            <a:r>
              <a:rPr sz="900" dirty="0" err="1"/>
              <a:t>혹은</a:t>
            </a:r>
            <a:r>
              <a:rPr sz="900" dirty="0"/>
              <a:t> </a:t>
            </a:r>
            <a:r>
              <a:rPr sz="900" dirty="0" err="1"/>
              <a:t>의식적인</a:t>
            </a:r>
            <a:r>
              <a:rPr sz="900" dirty="0"/>
              <a:t> </a:t>
            </a:r>
            <a:r>
              <a:rPr sz="900" dirty="0" err="1"/>
              <a:t>손상</a:t>
            </a:r>
            <a:r>
              <a:rPr sz="900" dirty="0"/>
              <a:t> </a:t>
            </a:r>
            <a:r>
              <a:rPr sz="900" dirty="0" err="1"/>
              <a:t>병력에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술 후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길이가</a:t>
            </a:r>
            <a:r>
              <a:rPr sz="900" dirty="0"/>
              <a:t> </a:t>
            </a:r>
            <a:r>
              <a:rPr sz="900" dirty="0" err="1"/>
              <a:t>짧아</a:t>
            </a:r>
            <a:r>
              <a:rPr sz="900" dirty="0"/>
              <a:t> 질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 err="1"/>
              <a:t>ㅁ,이전의</a:t>
            </a:r>
            <a:r>
              <a:rPr sz="900" dirty="0"/>
              <a:t> </a:t>
            </a:r>
            <a:r>
              <a:rPr sz="900" dirty="0" err="1"/>
              <a:t>무의식적인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손상에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</a:t>
            </a:r>
            <a:r>
              <a:rPr sz="900" dirty="0" err="1"/>
              <a:t>발견되지</a:t>
            </a:r>
            <a:r>
              <a:rPr sz="900" dirty="0"/>
              <a:t> </a:t>
            </a:r>
            <a:r>
              <a:rPr sz="900" dirty="0" err="1"/>
              <a:t>못하게</a:t>
            </a:r>
            <a:r>
              <a:rPr sz="900" dirty="0"/>
              <a:t> </a:t>
            </a:r>
            <a:r>
              <a:rPr sz="900" dirty="0" err="1"/>
              <a:t>치아에</a:t>
            </a:r>
            <a:r>
              <a:rPr sz="900" dirty="0"/>
              <a:t> </a:t>
            </a:r>
            <a:r>
              <a:rPr sz="900" dirty="0" err="1"/>
              <a:t>금이</a:t>
            </a:r>
            <a:r>
              <a:rPr sz="900" dirty="0"/>
              <a:t> 가 </a:t>
            </a:r>
            <a:r>
              <a:rPr sz="900" dirty="0" err="1"/>
              <a:t>있는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</a:t>
            </a:r>
            <a:r>
              <a:rPr sz="900" dirty="0" err="1"/>
              <a:t>교정력이</a:t>
            </a:r>
            <a:r>
              <a:rPr sz="900" dirty="0"/>
              <a:t> </a:t>
            </a:r>
            <a:r>
              <a:rPr sz="900" dirty="0" err="1"/>
              <a:t>가해지면서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뿌리가</a:t>
            </a:r>
            <a:r>
              <a:rPr sz="900" dirty="0"/>
              <a:t> </a:t>
            </a:r>
            <a:r>
              <a:rPr sz="900" dirty="0" err="1"/>
              <a:t>움직이면</a:t>
            </a:r>
            <a:r>
              <a:rPr sz="900" dirty="0"/>
              <a:t>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치수의</a:t>
            </a:r>
            <a:r>
              <a:rPr sz="900" dirty="0"/>
              <a:t> </a:t>
            </a:r>
            <a:r>
              <a:rPr sz="900" dirty="0" err="1"/>
              <a:t>괴사</a:t>
            </a:r>
            <a:r>
              <a:rPr sz="900" dirty="0"/>
              <a:t> </a:t>
            </a:r>
            <a:r>
              <a:rPr sz="900" dirty="0" err="1"/>
              <a:t>반응이</a:t>
            </a:r>
            <a:r>
              <a:rPr sz="900" dirty="0"/>
              <a:t> </a:t>
            </a:r>
            <a:r>
              <a:rPr sz="900" dirty="0" err="1"/>
              <a:t>생기게</a:t>
            </a:r>
            <a:r>
              <a:rPr sz="900" dirty="0"/>
              <a:t> </a:t>
            </a:r>
            <a:r>
              <a:rPr sz="900" dirty="0" err="1"/>
              <a:t>됩니다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이때</a:t>
            </a:r>
            <a:r>
              <a:rPr sz="900" dirty="0"/>
              <a:t> 이 </a:t>
            </a:r>
            <a:r>
              <a:rPr sz="900" dirty="0" err="1"/>
              <a:t>치아는</a:t>
            </a:r>
            <a:r>
              <a:rPr sz="900" dirty="0"/>
              <a:t> </a:t>
            </a:r>
            <a:r>
              <a:rPr sz="900" dirty="0" err="1"/>
              <a:t>갈색으로</a:t>
            </a:r>
            <a:r>
              <a:rPr sz="900" dirty="0"/>
              <a:t> </a:t>
            </a:r>
            <a:r>
              <a:rPr sz="900" dirty="0" err="1"/>
              <a:t>변하고</a:t>
            </a:r>
            <a:r>
              <a:rPr sz="900" dirty="0"/>
              <a:t> </a:t>
            </a:r>
            <a:r>
              <a:rPr sz="900" dirty="0" err="1"/>
              <a:t>심하게</a:t>
            </a:r>
            <a:r>
              <a:rPr sz="900" dirty="0"/>
              <a:t> </a:t>
            </a:r>
            <a:r>
              <a:rPr sz="900" dirty="0" err="1"/>
              <a:t>시리거나</a:t>
            </a:r>
            <a:r>
              <a:rPr sz="900" dirty="0"/>
              <a:t> </a:t>
            </a:r>
            <a:r>
              <a:rPr sz="900" dirty="0" err="1"/>
              <a:t>통증이</a:t>
            </a:r>
            <a:r>
              <a:rPr sz="900" dirty="0"/>
              <a:t> </a:t>
            </a:r>
            <a:r>
              <a:rPr sz="900" dirty="0" err="1"/>
              <a:t>있을</a:t>
            </a:r>
            <a:r>
              <a:rPr sz="900" dirty="0"/>
              <a:t> 수 </a:t>
            </a:r>
            <a:r>
              <a:rPr sz="900" dirty="0" err="1"/>
              <a:t>있으며</a:t>
            </a:r>
            <a:r>
              <a:rPr sz="900" dirty="0"/>
              <a:t>  </a:t>
            </a:r>
            <a:r>
              <a:rPr sz="900" dirty="0" err="1"/>
              <a:t>신경</a:t>
            </a:r>
            <a:r>
              <a:rPr sz="900" dirty="0"/>
              <a:t> </a:t>
            </a:r>
            <a:r>
              <a:rPr sz="900" dirty="0" err="1"/>
              <a:t>치료가</a:t>
            </a:r>
            <a:r>
              <a:rPr sz="900" dirty="0"/>
              <a:t> </a:t>
            </a:r>
            <a:r>
              <a:rPr sz="900" dirty="0" err="1"/>
              <a:t>필요</a:t>
            </a:r>
            <a:r>
              <a:rPr sz="900" dirty="0"/>
              <a:t> </a:t>
            </a:r>
            <a:r>
              <a:rPr sz="900" dirty="0" err="1"/>
              <a:t>하게</a:t>
            </a:r>
            <a:r>
              <a:rPr sz="900" dirty="0"/>
              <a:t> </a:t>
            </a:r>
            <a:r>
              <a:rPr sz="900" dirty="0" err="1"/>
              <a:t>되고</a:t>
            </a:r>
            <a:r>
              <a:rPr sz="900" dirty="0"/>
              <a:t> 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수복을</a:t>
            </a:r>
            <a:r>
              <a:rPr sz="900" dirty="0"/>
              <a:t> </a:t>
            </a:r>
            <a:r>
              <a:rPr sz="900" dirty="0" err="1"/>
              <a:t>해야</a:t>
            </a:r>
            <a:r>
              <a:rPr sz="900" dirty="0"/>
              <a:t> 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예상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..</a:t>
            </a:r>
            <a:r>
              <a:rPr sz="900" dirty="0" err="1"/>
              <a:t>기존</a:t>
            </a:r>
            <a:r>
              <a:rPr sz="900" dirty="0"/>
              <a:t> </a:t>
            </a:r>
            <a:r>
              <a:rPr sz="900" dirty="0" err="1"/>
              <a:t>보철물</a:t>
            </a:r>
            <a:r>
              <a:rPr sz="900" dirty="0"/>
              <a:t> </a:t>
            </a:r>
            <a:r>
              <a:rPr sz="900" dirty="0" err="1"/>
              <a:t>상악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, </a:t>
            </a:r>
            <a:r>
              <a:rPr sz="900" dirty="0" err="1"/>
              <a:t>상악</a:t>
            </a:r>
            <a:r>
              <a:rPr sz="900" dirty="0"/>
              <a:t> </a:t>
            </a:r>
            <a:r>
              <a:rPr sz="900" dirty="0" err="1"/>
              <a:t>측절치</a:t>
            </a:r>
            <a:r>
              <a:rPr sz="900" dirty="0"/>
              <a:t>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동적</a:t>
            </a:r>
            <a:r>
              <a:rPr sz="900" dirty="0"/>
              <a:t> </a:t>
            </a:r>
            <a:r>
              <a:rPr sz="900" dirty="0" err="1"/>
              <a:t>교정치료</a:t>
            </a:r>
            <a:r>
              <a:rPr sz="900" dirty="0"/>
              <a:t> </a:t>
            </a:r>
            <a:r>
              <a:rPr sz="900" dirty="0" err="1"/>
              <a:t>완료</a:t>
            </a:r>
            <a:r>
              <a:rPr sz="900" dirty="0"/>
              <a:t> 후 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수복의</a:t>
            </a:r>
            <a:r>
              <a:rPr sz="900" dirty="0"/>
              <a:t> </a:t>
            </a:r>
            <a:r>
              <a:rPr sz="900" dirty="0" err="1"/>
              <a:t>필요는</a:t>
            </a:r>
            <a:r>
              <a:rPr sz="900" dirty="0"/>
              <a:t> </a:t>
            </a:r>
            <a:r>
              <a:rPr sz="900" dirty="0" err="1"/>
              <a:t>다시</a:t>
            </a:r>
            <a:r>
              <a:rPr sz="900" dirty="0"/>
              <a:t> </a:t>
            </a:r>
            <a:r>
              <a:rPr sz="900" dirty="0" err="1"/>
              <a:t>평가</a:t>
            </a:r>
            <a:r>
              <a:rPr sz="900" dirty="0"/>
              <a:t> </a:t>
            </a:r>
            <a:r>
              <a:rPr sz="800" dirty="0" err="1"/>
              <a:t>하게</a:t>
            </a:r>
            <a:r>
              <a:rPr sz="900" dirty="0"/>
              <a:t> </a:t>
            </a:r>
            <a:r>
              <a:rPr sz="900" dirty="0" err="1"/>
              <a:t>되며</a:t>
            </a:r>
            <a:r>
              <a:rPr sz="900" dirty="0"/>
              <a:t>  </a:t>
            </a:r>
            <a:r>
              <a:rPr sz="900" dirty="0" err="1"/>
              <a:t>처음의</a:t>
            </a:r>
            <a:r>
              <a:rPr sz="900" dirty="0"/>
              <a:t> 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계획과는</a:t>
            </a:r>
            <a:r>
              <a:rPr sz="900" dirty="0"/>
              <a:t> </a:t>
            </a:r>
            <a:r>
              <a:rPr sz="900" dirty="0" err="1"/>
              <a:t>달라</a:t>
            </a:r>
            <a:r>
              <a:rPr sz="900" dirty="0"/>
              <a:t> 질 수 </a:t>
            </a:r>
            <a:r>
              <a:rPr sz="900" dirty="0" err="1"/>
              <a:t>있습니다</a:t>
            </a:r>
            <a:r>
              <a:rPr sz="900" dirty="0"/>
              <a:t>.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전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</a:t>
            </a:r>
            <a:r>
              <a:rPr sz="900" dirty="0" err="1"/>
              <a:t>설명</a:t>
            </a:r>
            <a:r>
              <a:rPr sz="900" dirty="0"/>
              <a:t>..</a:t>
            </a:r>
            <a:r>
              <a:rPr sz="900" dirty="0" err="1"/>
              <a:t>얼굴의</a:t>
            </a:r>
            <a:r>
              <a:rPr sz="900" dirty="0"/>
              <a:t> </a:t>
            </a:r>
            <a:r>
              <a:rPr sz="900" dirty="0" err="1"/>
              <a:t>좌우</a:t>
            </a:r>
            <a:r>
              <a:rPr sz="900" dirty="0"/>
              <a:t> </a:t>
            </a:r>
            <a:r>
              <a:rPr sz="900" dirty="0" err="1"/>
              <a:t>크기</a:t>
            </a:r>
            <a:r>
              <a:rPr sz="900" dirty="0"/>
              <a:t> </a:t>
            </a:r>
            <a:r>
              <a:rPr sz="900" dirty="0" err="1"/>
              <a:t>차이가</a:t>
            </a:r>
            <a:r>
              <a:rPr sz="900" dirty="0"/>
              <a:t> </a:t>
            </a:r>
            <a:r>
              <a:rPr sz="900" dirty="0" err="1"/>
              <a:t>존재</a:t>
            </a:r>
            <a:r>
              <a:rPr sz="900" dirty="0"/>
              <a:t> </a:t>
            </a:r>
            <a:r>
              <a:rPr sz="900" dirty="0" err="1"/>
              <a:t>합니다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</a:t>
            </a:r>
            <a:r>
              <a:rPr sz="900" dirty="0" err="1"/>
              <a:t>발현</a:t>
            </a:r>
            <a:r>
              <a:rPr sz="900" dirty="0"/>
              <a:t> </a:t>
            </a:r>
            <a:r>
              <a:rPr sz="900" dirty="0" err="1"/>
              <a:t>가능성설명</a:t>
            </a:r>
            <a:r>
              <a:rPr sz="900" dirty="0"/>
              <a:t>..술 후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가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치료에</a:t>
            </a:r>
            <a:r>
              <a:rPr sz="900" dirty="0"/>
              <a:t> </a:t>
            </a:r>
            <a:r>
              <a:rPr sz="900" dirty="0" err="1"/>
              <a:t>따른</a:t>
            </a:r>
            <a:r>
              <a:rPr sz="900" dirty="0"/>
              <a:t> </a:t>
            </a:r>
            <a:r>
              <a:rPr sz="900" dirty="0" err="1"/>
              <a:t>저작</a:t>
            </a:r>
            <a:r>
              <a:rPr sz="900" dirty="0"/>
              <a:t> </a:t>
            </a:r>
            <a:r>
              <a:rPr sz="900" dirty="0" err="1"/>
              <a:t>력의</a:t>
            </a:r>
            <a:r>
              <a:rPr sz="900" dirty="0"/>
              <a:t> </a:t>
            </a:r>
            <a:r>
              <a:rPr sz="900" dirty="0" err="1"/>
              <a:t>저하로</a:t>
            </a:r>
            <a:r>
              <a:rPr sz="900" dirty="0"/>
              <a:t> </a:t>
            </a:r>
            <a:r>
              <a:rPr sz="900" dirty="0" err="1"/>
              <a:t>저작근</a:t>
            </a:r>
            <a:r>
              <a:rPr sz="900" dirty="0"/>
              <a:t> 이 </a:t>
            </a:r>
            <a:r>
              <a:rPr sz="900" dirty="0" err="1"/>
              <a:t>퇴축</a:t>
            </a:r>
            <a:r>
              <a:rPr sz="900" dirty="0"/>
              <a:t> </a:t>
            </a:r>
            <a:r>
              <a:rPr sz="900" dirty="0" err="1"/>
              <a:t>되면서</a:t>
            </a:r>
            <a:r>
              <a:rPr sz="900" dirty="0"/>
              <a:t> </a:t>
            </a:r>
            <a:r>
              <a:rPr sz="900" dirty="0" err="1"/>
              <a:t>기존의</a:t>
            </a:r>
            <a:r>
              <a:rPr sz="900" dirty="0"/>
              <a:t> </a:t>
            </a:r>
            <a:r>
              <a:rPr sz="900" dirty="0" err="1"/>
              <a:t>골격</a:t>
            </a:r>
            <a:r>
              <a:rPr sz="900" dirty="0"/>
              <a:t> </a:t>
            </a:r>
            <a:r>
              <a:rPr sz="900" dirty="0" err="1"/>
              <a:t>적인</a:t>
            </a:r>
            <a:r>
              <a:rPr sz="900" dirty="0"/>
              <a:t> </a:t>
            </a:r>
            <a:r>
              <a:rPr sz="900" dirty="0" err="1"/>
              <a:t>부조화가</a:t>
            </a:r>
            <a:r>
              <a:rPr sz="900" dirty="0"/>
              <a:t> 더 </a:t>
            </a:r>
            <a:r>
              <a:rPr sz="900" dirty="0" err="1"/>
              <a:t>뚜렸</a:t>
            </a:r>
            <a:r>
              <a:rPr sz="900" dirty="0"/>
              <a:t> </a:t>
            </a:r>
            <a:r>
              <a:rPr sz="900" dirty="0" err="1"/>
              <a:t>하게</a:t>
            </a:r>
            <a:r>
              <a:rPr sz="900" dirty="0"/>
              <a:t> </a:t>
            </a:r>
            <a:r>
              <a:rPr sz="900" dirty="0" err="1"/>
              <a:t>드러</a:t>
            </a:r>
            <a:r>
              <a:rPr sz="900" dirty="0"/>
              <a:t> 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</a:t>
            </a:r>
            <a:r>
              <a:rPr sz="900" dirty="0" err="1"/>
              <a:t>이미</a:t>
            </a:r>
            <a:r>
              <a:rPr sz="900" dirty="0"/>
              <a:t> </a:t>
            </a:r>
            <a:r>
              <a:rPr sz="900" dirty="0" err="1"/>
              <a:t>존재</a:t>
            </a:r>
            <a:r>
              <a:rPr sz="900" dirty="0"/>
              <a:t> </a:t>
            </a:r>
            <a:r>
              <a:rPr sz="900" dirty="0" err="1"/>
              <a:t>시에</a:t>
            </a:r>
            <a:r>
              <a:rPr sz="900" dirty="0"/>
              <a:t> </a:t>
            </a:r>
            <a:r>
              <a:rPr sz="900" dirty="0" err="1"/>
              <a:t>심화</a:t>
            </a:r>
            <a:r>
              <a:rPr sz="900" dirty="0"/>
              <a:t> </a:t>
            </a:r>
            <a:r>
              <a:rPr sz="900" dirty="0" err="1"/>
              <a:t>가능성설명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현재의</a:t>
            </a:r>
            <a:r>
              <a:rPr sz="900" dirty="0"/>
              <a:t>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부조화가</a:t>
            </a:r>
            <a:r>
              <a:rPr sz="900" dirty="0"/>
              <a:t> </a:t>
            </a:r>
            <a:r>
              <a:rPr sz="900" dirty="0" err="1"/>
              <a:t>성장과</a:t>
            </a:r>
            <a:r>
              <a:rPr sz="900" dirty="0"/>
              <a:t> </a:t>
            </a:r>
            <a:r>
              <a:rPr sz="900" dirty="0" err="1"/>
              <a:t>함께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기간</a:t>
            </a:r>
            <a:r>
              <a:rPr sz="900" dirty="0"/>
              <a:t> </a:t>
            </a:r>
            <a:r>
              <a:rPr sz="900" dirty="0" err="1"/>
              <a:t>중에</a:t>
            </a:r>
            <a:r>
              <a:rPr sz="900" dirty="0"/>
              <a:t> </a:t>
            </a:r>
            <a:r>
              <a:rPr sz="900" dirty="0" err="1"/>
              <a:t>혹은</a:t>
            </a:r>
            <a:r>
              <a:rPr sz="900" dirty="0"/>
              <a:t> </a:t>
            </a:r>
            <a:r>
              <a:rPr sz="900" dirty="0" err="1"/>
              <a:t>완료</a:t>
            </a:r>
            <a:r>
              <a:rPr sz="900" dirty="0"/>
              <a:t> </a:t>
            </a:r>
            <a:r>
              <a:rPr sz="900" dirty="0" err="1"/>
              <a:t>후에도</a:t>
            </a:r>
            <a:r>
              <a:rPr sz="900" dirty="0"/>
              <a:t>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치료와</a:t>
            </a:r>
            <a:r>
              <a:rPr sz="900" dirty="0"/>
              <a:t> </a:t>
            </a:r>
            <a:r>
              <a:rPr sz="900" dirty="0" err="1"/>
              <a:t>상관없이</a:t>
            </a:r>
            <a:r>
              <a:rPr sz="900" dirty="0"/>
              <a:t> </a:t>
            </a:r>
            <a:r>
              <a:rPr sz="900" dirty="0" err="1"/>
              <a:t>더욱</a:t>
            </a:r>
            <a:r>
              <a:rPr sz="900" dirty="0"/>
              <a:t> </a:t>
            </a:r>
            <a:r>
              <a:rPr sz="900" dirty="0" err="1"/>
              <a:t>심화</a:t>
            </a:r>
            <a:r>
              <a:rPr sz="900" dirty="0"/>
              <a:t> 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재귀</a:t>
            </a:r>
            <a:r>
              <a:rPr sz="900" dirty="0"/>
              <a:t> </a:t>
            </a:r>
            <a:r>
              <a:rPr sz="900" dirty="0" err="1"/>
              <a:t>현상</a:t>
            </a:r>
            <a:r>
              <a:rPr sz="900" dirty="0"/>
              <a:t> </a:t>
            </a:r>
            <a:r>
              <a:rPr sz="900" dirty="0" err="1"/>
              <a:t>설명과</a:t>
            </a:r>
            <a:r>
              <a:rPr sz="900" dirty="0"/>
              <a:t> </a:t>
            </a:r>
            <a:r>
              <a:rPr sz="900" dirty="0" err="1"/>
              <a:t>관리</a:t>
            </a:r>
            <a:r>
              <a:rPr sz="900" dirty="0"/>
              <a:t> </a:t>
            </a:r>
            <a:r>
              <a:rPr sz="900" dirty="0" err="1"/>
              <a:t>주지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 </a:t>
            </a:r>
            <a:r>
              <a:rPr sz="900" dirty="0" err="1"/>
              <a:t>동적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완료</a:t>
            </a:r>
            <a:r>
              <a:rPr sz="900" dirty="0"/>
              <a:t> 후 </a:t>
            </a:r>
            <a:r>
              <a:rPr sz="900" dirty="0" err="1"/>
              <a:t>유지</a:t>
            </a:r>
            <a:r>
              <a:rPr sz="900" dirty="0"/>
              <a:t> </a:t>
            </a:r>
            <a:r>
              <a:rPr sz="900" dirty="0" err="1"/>
              <a:t>관리가</a:t>
            </a:r>
            <a:r>
              <a:rPr sz="900" dirty="0"/>
              <a:t> </a:t>
            </a:r>
            <a:r>
              <a:rPr sz="900" dirty="0" err="1"/>
              <a:t>소홀</a:t>
            </a:r>
            <a:r>
              <a:rPr sz="900" dirty="0"/>
              <a:t> </a:t>
            </a:r>
            <a:r>
              <a:rPr sz="900" dirty="0" err="1"/>
              <a:t>하면</a:t>
            </a:r>
            <a:r>
              <a:rPr sz="900" dirty="0"/>
              <a:t>  </a:t>
            </a:r>
            <a:r>
              <a:rPr sz="900" dirty="0" err="1"/>
              <a:t>바람</a:t>
            </a:r>
            <a:r>
              <a:rPr sz="900" dirty="0"/>
              <a:t> 직 </a:t>
            </a:r>
            <a:r>
              <a:rPr sz="900" dirty="0" err="1"/>
              <a:t>하지</a:t>
            </a:r>
            <a:r>
              <a:rPr sz="900" dirty="0"/>
              <a:t> </a:t>
            </a:r>
            <a:r>
              <a:rPr sz="900" dirty="0" err="1"/>
              <a:t>못한</a:t>
            </a:r>
            <a:r>
              <a:rPr sz="900" dirty="0"/>
              <a:t> </a:t>
            </a:r>
            <a:r>
              <a:rPr sz="900" dirty="0" err="1"/>
              <a:t>방향으로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움직임이</a:t>
            </a:r>
            <a:r>
              <a:rPr sz="900" dirty="0"/>
              <a:t>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후에</a:t>
            </a:r>
            <a:r>
              <a:rPr sz="900" dirty="0"/>
              <a:t>  </a:t>
            </a:r>
            <a:r>
              <a:rPr sz="900" dirty="0" err="1"/>
              <a:t>미세한</a:t>
            </a:r>
            <a:r>
              <a:rPr sz="900" dirty="0"/>
              <a:t> </a:t>
            </a:r>
            <a:r>
              <a:rPr sz="900" dirty="0" err="1"/>
              <a:t>생리적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이동은</a:t>
            </a:r>
            <a:r>
              <a:rPr sz="900" dirty="0"/>
              <a:t>  </a:t>
            </a:r>
            <a:r>
              <a:rPr sz="900" dirty="0" err="1"/>
              <a:t>자연적인</a:t>
            </a:r>
            <a:r>
              <a:rPr sz="900" dirty="0"/>
              <a:t> </a:t>
            </a:r>
            <a:r>
              <a:rPr sz="900" dirty="0" err="1"/>
              <a:t>이동으로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치료를</a:t>
            </a:r>
            <a:r>
              <a:rPr sz="900" dirty="0"/>
              <a:t> </a:t>
            </a:r>
            <a:r>
              <a:rPr sz="900" dirty="0" err="1"/>
              <a:t>하지</a:t>
            </a:r>
            <a:r>
              <a:rPr sz="900" dirty="0"/>
              <a:t> </a:t>
            </a:r>
            <a:r>
              <a:rPr sz="900" dirty="0" err="1"/>
              <a:t>않는</a:t>
            </a:r>
            <a:r>
              <a:rPr sz="900" dirty="0"/>
              <a:t> </a:t>
            </a:r>
            <a:r>
              <a:rPr sz="900" dirty="0" err="1"/>
              <a:t>사람도</a:t>
            </a:r>
            <a:r>
              <a:rPr sz="900" dirty="0"/>
              <a:t> </a:t>
            </a:r>
            <a:r>
              <a:rPr sz="900" dirty="0" err="1"/>
              <a:t>누구나</a:t>
            </a:r>
            <a:r>
              <a:rPr sz="900" dirty="0"/>
              <a:t> </a:t>
            </a:r>
            <a:r>
              <a:rPr sz="900" dirty="0" err="1"/>
              <a:t>평생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이동은</a:t>
            </a:r>
            <a:r>
              <a:rPr sz="900" dirty="0"/>
              <a:t> </a:t>
            </a:r>
            <a:r>
              <a:rPr sz="900" dirty="0" err="1"/>
              <a:t>있게</a:t>
            </a:r>
            <a:r>
              <a:rPr sz="900" dirty="0"/>
              <a:t> </a:t>
            </a:r>
            <a:r>
              <a:rPr sz="900" dirty="0" err="1"/>
              <a:t>마련입니다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따라서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후 </a:t>
            </a:r>
            <a:r>
              <a:rPr sz="900" dirty="0" err="1"/>
              <a:t>모습을</a:t>
            </a:r>
            <a:r>
              <a:rPr sz="900" dirty="0"/>
              <a:t> </a:t>
            </a:r>
            <a:r>
              <a:rPr sz="900" dirty="0" err="1"/>
              <a:t>평생</a:t>
            </a:r>
            <a:r>
              <a:rPr sz="900" dirty="0"/>
              <a:t> </a:t>
            </a:r>
            <a:r>
              <a:rPr sz="900" dirty="0" err="1"/>
              <a:t>유지</a:t>
            </a:r>
            <a:r>
              <a:rPr sz="900" dirty="0"/>
              <a:t> </a:t>
            </a:r>
            <a:r>
              <a:rPr sz="900" dirty="0" err="1"/>
              <a:t>하는</a:t>
            </a:r>
            <a:r>
              <a:rPr sz="900" dirty="0"/>
              <a:t> </a:t>
            </a:r>
            <a:r>
              <a:rPr sz="900" dirty="0" err="1"/>
              <a:t>것은</a:t>
            </a:r>
            <a:r>
              <a:rPr sz="900" dirty="0"/>
              <a:t> </a:t>
            </a:r>
            <a:r>
              <a:rPr sz="900" dirty="0" err="1"/>
              <a:t>불가능</a:t>
            </a:r>
            <a:r>
              <a:rPr sz="900" dirty="0"/>
              <a:t> </a:t>
            </a:r>
            <a:r>
              <a:rPr sz="900" dirty="0" err="1"/>
              <a:t>합니다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 err="1"/>
              <a:t>ㅁ,동적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전 ,</a:t>
            </a:r>
            <a:r>
              <a:rPr sz="900" dirty="0" err="1"/>
              <a:t>과정</a:t>
            </a:r>
            <a:r>
              <a:rPr sz="900" dirty="0"/>
              <a:t> </a:t>
            </a:r>
            <a:r>
              <a:rPr sz="900" dirty="0" err="1"/>
              <a:t>중,치료</a:t>
            </a:r>
            <a:r>
              <a:rPr sz="900" dirty="0"/>
              <a:t> </a:t>
            </a:r>
            <a:r>
              <a:rPr sz="900" dirty="0" err="1"/>
              <a:t>후에</a:t>
            </a:r>
            <a:r>
              <a:rPr sz="900" dirty="0"/>
              <a:t> 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치료와는</a:t>
            </a:r>
            <a:r>
              <a:rPr sz="900" dirty="0"/>
              <a:t> </a:t>
            </a:r>
            <a:r>
              <a:rPr sz="900" dirty="0" err="1"/>
              <a:t>무관하게</a:t>
            </a:r>
            <a:r>
              <a:rPr sz="900" dirty="0"/>
              <a:t>  </a:t>
            </a:r>
            <a:r>
              <a:rPr sz="900" dirty="0" err="1"/>
              <a:t>턱관절</a:t>
            </a:r>
            <a:r>
              <a:rPr sz="900" dirty="0"/>
              <a:t> </a:t>
            </a:r>
            <a:r>
              <a:rPr sz="900" dirty="0" err="1"/>
              <a:t>장애가</a:t>
            </a:r>
            <a:r>
              <a:rPr sz="900" dirty="0"/>
              <a:t>  </a:t>
            </a:r>
            <a:r>
              <a:rPr sz="900" dirty="0" err="1"/>
              <a:t>발현되어</a:t>
            </a:r>
            <a:r>
              <a:rPr sz="900" dirty="0"/>
              <a:t>  </a:t>
            </a:r>
            <a:r>
              <a:rPr sz="900" dirty="0" err="1"/>
              <a:t>턱관절</a:t>
            </a:r>
            <a:r>
              <a:rPr sz="900" dirty="0"/>
              <a:t> </a:t>
            </a:r>
            <a:r>
              <a:rPr sz="900" dirty="0" err="1"/>
              <a:t>치료를</a:t>
            </a:r>
            <a:r>
              <a:rPr sz="900" dirty="0"/>
              <a:t> </a:t>
            </a:r>
            <a:r>
              <a:rPr sz="900" dirty="0" err="1"/>
              <a:t>해야</a:t>
            </a:r>
            <a:r>
              <a:rPr sz="900" dirty="0"/>
              <a:t> 할 수 </a:t>
            </a:r>
            <a:r>
              <a:rPr sz="900" dirty="0" err="1"/>
              <a:t>있으며</a:t>
            </a:r>
            <a:r>
              <a:rPr sz="900" dirty="0"/>
              <a:t>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이때</a:t>
            </a:r>
            <a:r>
              <a:rPr sz="900" dirty="0"/>
              <a:t> </a:t>
            </a:r>
            <a:r>
              <a:rPr sz="900" dirty="0" err="1"/>
              <a:t>치료비는</a:t>
            </a:r>
            <a:r>
              <a:rPr sz="900" dirty="0"/>
              <a:t> </a:t>
            </a:r>
            <a:r>
              <a:rPr sz="900" dirty="0" err="1"/>
              <a:t>교합안정</a:t>
            </a:r>
            <a:r>
              <a:rPr sz="900" dirty="0"/>
              <a:t> </a:t>
            </a:r>
            <a:r>
              <a:rPr sz="900" dirty="0" err="1"/>
              <a:t>장치가</a:t>
            </a:r>
            <a:r>
              <a:rPr sz="900" dirty="0"/>
              <a:t> </a:t>
            </a:r>
            <a:r>
              <a:rPr sz="900" dirty="0" err="1"/>
              <a:t>필요한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 </a:t>
            </a:r>
            <a:r>
              <a:rPr sz="900" dirty="0" err="1"/>
              <a:t>별도의</a:t>
            </a:r>
            <a:r>
              <a:rPr sz="900" dirty="0"/>
              <a:t>  </a:t>
            </a:r>
            <a:r>
              <a:rPr sz="900" dirty="0" err="1"/>
              <a:t>치료비가</a:t>
            </a:r>
            <a:r>
              <a:rPr sz="900" dirty="0"/>
              <a:t> </a:t>
            </a:r>
            <a:r>
              <a:rPr sz="900" dirty="0" err="1"/>
              <a:t>부가</a:t>
            </a:r>
            <a:r>
              <a:rPr sz="900" dirty="0"/>
              <a:t> </a:t>
            </a:r>
            <a:r>
              <a:rPr sz="900" dirty="0" err="1"/>
              <a:t>됩니다</a:t>
            </a:r>
            <a:r>
              <a:rPr sz="900" dirty="0"/>
              <a:t>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 err="1"/>
              <a:t>ㅁ,관절</a:t>
            </a:r>
            <a:r>
              <a:rPr sz="900" dirty="0"/>
              <a:t> </a:t>
            </a:r>
            <a:r>
              <a:rPr sz="900" dirty="0" err="1"/>
              <a:t>과두가</a:t>
            </a:r>
            <a:r>
              <a:rPr sz="900" dirty="0"/>
              <a:t> </a:t>
            </a:r>
            <a:r>
              <a:rPr sz="900" dirty="0" err="1"/>
              <a:t>약해서</a:t>
            </a:r>
            <a:r>
              <a:rPr sz="900" dirty="0"/>
              <a:t> </a:t>
            </a:r>
            <a:r>
              <a:rPr sz="900" dirty="0" err="1"/>
              <a:t>향후</a:t>
            </a:r>
            <a:r>
              <a:rPr sz="900" dirty="0"/>
              <a:t> </a:t>
            </a:r>
            <a:r>
              <a:rPr sz="900" dirty="0" err="1"/>
              <a:t>과두가</a:t>
            </a:r>
            <a:r>
              <a:rPr sz="900" dirty="0"/>
              <a:t> </a:t>
            </a:r>
            <a:r>
              <a:rPr sz="900" dirty="0" err="1"/>
              <a:t>짧아지는</a:t>
            </a:r>
            <a:r>
              <a:rPr sz="900" dirty="0"/>
              <a:t> </a:t>
            </a:r>
            <a:r>
              <a:rPr sz="900" dirty="0" err="1"/>
              <a:t>관절염에</a:t>
            </a:r>
            <a:r>
              <a:rPr sz="900" dirty="0"/>
              <a:t> </a:t>
            </a:r>
            <a:r>
              <a:rPr sz="900" dirty="0" err="1"/>
              <a:t>의한</a:t>
            </a:r>
            <a:r>
              <a:rPr sz="900" dirty="0"/>
              <a:t> </a:t>
            </a:r>
            <a:r>
              <a:rPr sz="900" dirty="0" err="1"/>
              <a:t>과두</a:t>
            </a:r>
            <a:r>
              <a:rPr sz="900" dirty="0"/>
              <a:t> </a:t>
            </a:r>
            <a:r>
              <a:rPr sz="900" dirty="0" err="1"/>
              <a:t>흡수</a:t>
            </a:r>
            <a:r>
              <a:rPr sz="900" dirty="0"/>
              <a:t> </a:t>
            </a:r>
            <a:r>
              <a:rPr sz="900" dirty="0" err="1"/>
              <a:t>현상이</a:t>
            </a:r>
            <a:r>
              <a:rPr sz="900" dirty="0"/>
              <a:t>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있으며</a:t>
            </a:r>
            <a:r>
              <a:rPr sz="900" dirty="0"/>
              <a:t>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이때는</a:t>
            </a:r>
            <a:r>
              <a:rPr sz="900" dirty="0"/>
              <a:t> </a:t>
            </a:r>
            <a:r>
              <a:rPr sz="900" dirty="0" err="1"/>
              <a:t>심도</a:t>
            </a:r>
            <a:r>
              <a:rPr sz="900" dirty="0"/>
              <a:t> </a:t>
            </a:r>
            <a:r>
              <a:rPr sz="900" dirty="0" err="1"/>
              <a:t>있는</a:t>
            </a:r>
            <a:r>
              <a:rPr sz="900" dirty="0"/>
              <a:t> </a:t>
            </a:r>
            <a:r>
              <a:rPr sz="900" dirty="0" err="1"/>
              <a:t>치료를</a:t>
            </a:r>
            <a:r>
              <a:rPr sz="900" dirty="0"/>
              <a:t> </a:t>
            </a:r>
            <a:r>
              <a:rPr sz="900" dirty="0" err="1"/>
              <a:t>위해</a:t>
            </a:r>
            <a:r>
              <a:rPr sz="900" dirty="0"/>
              <a:t> </a:t>
            </a:r>
            <a:r>
              <a:rPr sz="900" dirty="0" err="1"/>
              <a:t>상급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기관으로</a:t>
            </a:r>
            <a:r>
              <a:rPr sz="900" dirty="0"/>
              <a:t> </a:t>
            </a:r>
            <a:r>
              <a:rPr sz="900" dirty="0" err="1"/>
              <a:t>의뢰</a:t>
            </a:r>
            <a:r>
              <a:rPr sz="900" dirty="0"/>
              <a:t>  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</p:txBody>
      </p:sp>
      <p:sp>
        <p:nvSpPr>
          <p:cNvPr id="311" name="술 전 주지 사항  목록"/>
          <p:cNvSpPr txBox="1"/>
          <p:nvPr/>
        </p:nvSpPr>
        <p:spPr>
          <a:xfrm>
            <a:off x="3643313" y="571499"/>
            <a:ext cx="14632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indent="39687">
              <a:spcBef>
                <a:spcPts val="700"/>
              </a:spcBef>
              <a:defRPr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>
                <a:latin typeface="굴림"/>
                <a:ea typeface="굴림"/>
                <a:cs typeface="굴림"/>
                <a:sym typeface="굴림"/>
              </a:rPr>
              <a:t>술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전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주지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사항</a:t>
            </a:r>
            <a:r>
              <a:rPr sz="1200"/>
              <a:t> 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목록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환자     성함                             사인…"/>
          <p:cNvSpPr txBox="1"/>
          <p:nvPr/>
        </p:nvSpPr>
        <p:spPr>
          <a:xfrm>
            <a:off x="6929437" y="5786437"/>
            <a:ext cx="2131062" cy="310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환자</a:t>
            </a:r>
            <a:r>
              <a:rPr sz="1000"/>
              <a:t>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보호자</a:t>
            </a:r>
            <a:r>
              <a:rPr sz="1000"/>
              <a:t>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</p:txBody>
      </p:sp>
      <p:sp>
        <p:nvSpPr>
          <p:cNvPr id="314" name="ㅁ.턱 교정은 턱의 부조화를 개선하고  바른 턱의 위치를 잡아줌으로써  우리 몸의  균형을 회복 시키는 과정입니다.…"/>
          <p:cNvSpPr txBox="1"/>
          <p:nvPr/>
        </p:nvSpPr>
        <p:spPr>
          <a:xfrm>
            <a:off x="285751" y="1142999"/>
            <a:ext cx="8817611" cy="4124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ㅁ.턱 교정은 턱의 부조화를 개선하고  바른 턱의 위치를 잡아줌으로써  우리 몸의  균형을 회복 시키는 과정입니다.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1차적인 과정으로 끝나지 않고 몆 차례의 과정을 거쳐야 할 수 있습니다. 과정 마다 단계별로 재 평가하여 다음 치료를 결정 함으로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미리 결정된 치료가 이루어 질 수 없습니다.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 또한 12세 두개골 봉합이 완료 되는 시기까지 턱교정은  유지 관리 되어야 합니다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 골격 교정을 시행 후 재 평가 하여  치열 교정 치료 여부를 포함한  치료 계획을   다시 세우게 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ㅁ,2차 치열 교정 후에도  수술 가능성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2차 치열 교정 후에도 잔여 성장에 의해 골격적으로 부정 교합이  재 발현 할 수 있으며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최종 적으로 성장 이 완료 되면 후에 턱 수술을 해야 할 수 있습니다.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ㅁ,교정 치료 완료 후 치아 배열이 바둑 판 같이 가지런 할 것이라는 기대를 하시면 안됩니다.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개개인의 치아 형태 차이,골격적인 부조화에 대한 치아의 보상 적인 배열 등으로 모델 같이 완벽한 치아 배열을  이룬다는 것은 불가능 합니다.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ㅁ,주걱턱의 개선을 위한  교정 치료는 환자의 성장이 완료 될 때 까지 치료가  종결 되지 않고 지속 되며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모든 교정 치료가  적용되고도   잔여 성장 에 의해  최종적으로 수술을   해야 할 수 있습니다.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이는 하악골의 성장은 신체의 성장과 함께 지속되며 키가 어느 정도 클지 알 수 없듯이 하악의  성장을 예측 하는 것은 불가능 하기 때문입니다.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그렇다 하더라도 성장 조절을 위한  교정은 최종 수술이 필요한 경우  수술의 심화 정도를 경감 시키게 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ㅁ,예측 되지 않은 성장에 의한 불가항력적인 골격적 부조화의 발현으로 치료 계획이 바뀔 수 있습니다.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ㅁ,교정 치료는 술자의 노력만으로  되는 것이 아니고 치료 받는 분의 절대적인 의지 뿐만 아니라 함께 해야하는 노력에 의해 서 이루어집니다.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 특히 적절한 시기에  고무줄과 장치의 착용은 꼭 지켜야  합니다.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그렇지 않으면 치료 기간이 지연 될 뿐만 아니라  심지어 원하는 결과를 얻지 못 할 수도 있습니다.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ㅁ,교정 치료 완료 후 유지 장치 착용을 소홀히 하면 재발이 되거나 치아들이 틀어져서 재 교정을 하게 될 수도 있으며  이 비용은 본인이 부담 하셔야 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ㅁ,5세 부터 12세까지는 급격한 치아들의 맹출과 정착 과정 중에 평생 전신 자세의 균형 메커니즘이 완성됩니다.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또한 두개골 봉합선들이 아직 골화 되지 않아서 틀어진 저작력은 두개골들을 비틀어 얼굴의 비 대칭을 유발 시킵니다.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따라서 혼합 치열기인 이시기에만이  턱교정에 의해 평생 균형된 자세의 확립과 균형된 두개골의 정립을  시도 할 수 있습니다</a:t>
            </a:r>
          </a:p>
        </p:txBody>
      </p:sp>
      <p:sp>
        <p:nvSpPr>
          <p:cNvPr id="315" name="술 전 주지 사항  목록"/>
          <p:cNvSpPr txBox="1"/>
          <p:nvPr/>
        </p:nvSpPr>
        <p:spPr>
          <a:xfrm>
            <a:off x="3500438" y="714375"/>
            <a:ext cx="14632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indent="39687">
              <a:spcBef>
                <a:spcPts val="700"/>
              </a:spcBef>
              <a:defRPr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>
                <a:latin typeface="굴림"/>
                <a:ea typeface="굴림"/>
                <a:cs typeface="굴림"/>
                <a:sym typeface="굴림"/>
              </a:rPr>
              <a:t>술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전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주지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사항</a:t>
            </a:r>
            <a:r>
              <a:rPr sz="1200"/>
              <a:t> 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목록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380</TotalTime>
  <Words>1769</Words>
  <Application>Microsoft Office PowerPoint</Application>
  <PresentationFormat>화면 슬라이드 쇼(4:3)</PresentationFormat>
  <Paragraphs>253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7" baseType="lpstr">
      <vt:lpstr>Arial Unicode MS</vt:lpstr>
      <vt:lpstr>Avenir Next Regular</vt:lpstr>
      <vt:lpstr>Gill Sans</vt:lpstr>
      <vt:lpstr>Gill Sans Light</vt:lpstr>
      <vt:lpstr>Gill Sans SemiBold</vt:lpstr>
      <vt:lpstr>굴림</vt:lpstr>
      <vt:lpstr>맑은 고딕</vt:lpstr>
      <vt:lpstr>바탕</vt:lpstr>
      <vt:lpstr>Arial</vt:lpstr>
      <vt:lpstr>Calibri</vt:lpstr>
      <vt:lpstr>Calibri Light</vt:lpstr>
      <vt:lpstr>Helvetica</vt:lpstr>
      <vt:lpstr>Times New Roman</vt:lpstr>
      <vt:lpstr>Times New Roman Bold</vt:lpstr>
      <vt:lpstr>Times New Roman Bold Italic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옥 용주</dc:creator>
  <cp:lastModifiedBy>옥 용주</cp:lastModifiedBy>
  <cp:revision>39</cp:revision>
  <dcterms:created xsi:type="dcterms:W3CDTF">2022-10-19T20:24:57Z</dcterms:created>
  <dcterms:modified xsi:type="dcterms:W3CDTF">2023-06-09T22:47:11Z</dcterms:modified>
</cp:coreProperties>
</file>